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6"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946" y="1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5BCAD085-E8A6-8845-BD4E-CB4CCA059FC4}" type="datetimeFigureOut">
              <a:rPr lang="en-US" smtClean="0"/>
              <a:pPr/>
              <a:t>6/10/2026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457200" y="457200"/>
            <a:ext cx="11277295" cy="5943600"/>
          </a:xfrm>
          <a:prstGeom prst="roundRect">
            <a:avLst/>
          </a:prstGeom>
          <a:solidFill>
            <a:srgbClr val="FFFFFF"/>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3" name="TextBox 2"/>
          <p:cNvSpPr txBox="1"/>
          <p:nvPr/>
        </p:nvSpPr>
        <p:spPr>
          <a:xfrm>
            <a:off x="1686255" y="1646476"/>
            <a:ext cx="10058400" cy="2113399"/>
          </a:xfrm>
          <a:prstGeom prst="rect">
            <a:avLst/>
          </a:prstGeom>
          <a:noFill/>
        </p:spPr>
        <p:txBody>
          <a:bodyPr wrap="square" lIns="0" tIns="0" rIns="0" bIns="0">
            <a:spAutoFit/>
          </a:bodyPr>
          <a:lstStyle/>
          <a:p>
            <a:pPr algn="l">
              <a:spcAft>
                <a:spcPts val="2000"/>
              </a:spcAft>
              <a:defRPr sz="1100" b="1">
                <a:solidFill>
                  <a:srgbClr val="00C2A8"/>
                </a:solidFill>
                <a:latin typeface="Arial"/>
              </a:defRPr>
            </a:pPr>
            <a:r>
              <a:rPr sz="1300" dirty="0">
                <a:latin typeface="Times New Roman" panose="02020603050405020304" pitchFamily="18" charset="0"/>
              </a:rPr>
              <a:t>UNSTOP MOBILITY HACKATHON 2026: URBAN DAILY COMMUTE IN INDIA</a:t>
            </a:r>
          </a:p>
          <a:p>
            <a:pPr algn="l">
              <a:spcAft>
                <a:spcPts val="500"/>
              </a:spcAft>
              <a:defRPr sz="5800" b="1">
                <a:solidFill>
                  <a:srgbClr val="6C63FF"/>
                </a:solidFill>
                <a:latin typeface="Arial"/>
              </a:defRPr>
            </a:pPr>
            <a:r>
              <a:rPr dirty="0">
                <a:latin typeface="Times New Roman" panose="02020603050405020304" pitchFamily="18" charset="0"/>
              </a:rPr>
              <a:t>AURAPATH</a:t>
            </a:r>
          </a:p>
          <a:p>
            <a:pPr algn="l">
              <a:spcAft>
                <a:spcPts val="1500"/>
              </a:spcAft>
              <a:defRPr sz="2000" b="1">
                <a:solidFill>
                  <a:srgbClr val="0F172A"/>
                </a:solidFill>
                <a:latin typeface="Arial"/>
              </a:defRPr>
            </a:pPr>
            <a:r>
              <a:rPr dirty="0">
                <a:latin typeface="Times New Roman" panose="02020603050405020304" pitchFamily="18" charset="0"/>
              </a:rPr>
              <a:t>AI-Powered Women's Mobility Intelligence Platform</a:t>
            </a:r>
          </a:p>
          <a:p>
            <a:pPr algn="l">
              <a:spcAft>
                <a:spcPts val="4500"/>
              </a:spcAft>
              <a:defRPr sz="1300" b="0">
                <a:solidFill>
                  <a:srgbClr val="64748B"/>
                </a:solidFill>
                <a:latin typeface="Arial"/>
              </a:defRPr>
            </a:pPr>
            <a:r>
              <a:rPr sz="1300" dirty="0">
                <a:latin typeface="Times New Roman" panose="02020603050405020304" pitchFamily="18" charset="0"/>
              </a:rPr>
              <a:t>Transitioning urban commuting from reactive incident alarms to predictive spatial safety and active community shielding.</a:t>
            </a:r>
          </a:p>
        </p:txBody>
      </p:sp>
      <p:sp>
        <p:nvSpPr>
          <p:cNvPr id="4" name="TextBox 3"/>
          <p:cNvSpPr txBox="1"/>
          <p:nvPr/>
        </p:nvSpPr>
        <p:spPr>
          <a:xfrm>
            <a:off x="1483360" y="4708822"/>
            <a:ext cx="9977120" cy="1036181"/>
          </a:xfrm>
          <a:prstGeom prst="rect">
            <a:avLst/>
          </a:prstGeom>
          <a:noFill/>
        </p:spPr>
        <p:txBody>
          <a:bodyPr wrap="square" lIns="0" tIns="0" rIns="0" bIns="0">
            <a:spAutoFit/>
          </a:bodyPr>
          <a:lstStyle/>
          <a:p>
            <a:pPr algn="l">
              <a:spcAft>
                <a:spcPts val="200"/>
              </a:spcAft>
              <a:defRPr sz="1000" b="1">
                <a:solidFill>
                  <a:srgbClr val="00C2A8"/>
                </a:solidFill>
                <a:latin typeface="Arial"/>
              </a:defRPr>
            </a:pPr>
            <a:r>
              <a:rPr sz="1700" dirty="0">
                <a:latin typeface="Times New Roman" panose="02020603050405020304" pitchFamily="18" charset="0"/>
              </a:rPr>
              <a:t>SUBMISSION TRACK:</a:t>
            </a:r>
          </a:p>
          <a:p>
            <a:pPr algn="l">
              <a:spcAft>
                <a:spcPts val="2000"/>
              </a:spcAft>
              <a:defRPr sz="1300" b="1">
                <a:solidFill>
                  <a:srgbClr val="0F172A"/>
                </a:solidFill>
                <a:latin typeface="Arial"/>
              </a:defRPr>
            </a:pPr>
            <a:r>
              <a:rPr sz="1700" dirty="0">
                <a:latin typeface="Times New Roman" panose="02020603050405020304" pitchFamily="18" charset="0"/>
              </a:rPr>
              <a:t>Women Safety &amp; Secure Commute</a:t>
            </a:r>
          </a:p>
          <a:p>
            <a:pPr algn="l">
              <a:spcAft>
                <a:spcPts val="200"/>
              </a:spcAft>
              <a:defRPr sz="1200" b="0">
                <a:solidFill>
                  <a:srgbClr val="0F172A"/>
                </a:solidFill>
                <a:latin typeface="Arial"/>
              </a:defRPr>
            </a:pPr>
            <a:r>
              <a:rPr sz="1500" dirty="0">
                <a:latin typeface="Times New Roman" panose="02020603050405020304" pitchFamily="18" charset="0"/>
              </a:rPr>
              <a:t>TEAM</a:t>
            </a:r>
            <a:r>
              <a:rPr lang="en-IN" sz="1500" dirty="0">
                <a:latin typeface="Times New Roman" panose="02020603050405020304" pitchFamily="18" charset="0"/>
              </a:rPr>
              <a:t> MEMBERS: TAMIL AMRITHARAJ J, SARANYA S, PRIYA DHARSHINI A, LAKSHMI SRI DIVYA RAVIPROLU </a:t>
            </a:r>
            <a:endParaRPr sz="1500" dirty="0">
              <a:latin typeface="Times New Roman" panose="02020603050405020304" pitchFamily="18" charset="0"/>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03504" y="381056"/>
            <a:ext cx="10972800" cy="246221"/>
          </a:xfrm>
          <a:prstGeom prst="rect">
            <a:avLst/>
          </a:prstGeom>
          <a:noFill/>
        </p:spPr>
        <p:txBody>
          <a:bodyPr wrap="square">
            <a:spAutoFit/>
          </a:bodyPr>
          <a:lstStyle/>
          <a:p>
            <a:pPr>
              <a:defRPr sz="1000" b="1">
                <a:solidFill>
                  <a:srgbClr val="00C2A8"/>
                </a:solidFill>
                <a:latin typeface="Arial"/>
              </a:defRPr>
            </a:pPr>
            <a:r>
              <a:rPr dirty="0">
                <a:latin typeface="Times New Roman" panose="02020603050405020304" pitchFamily="18" charset="0"/>
              </a:rPr>
              <a:t>PROBLEM LANDSCAPE</a:t>
            </a:r>
          </a:p>
        </p:txBody>
      </p:sp>
      <p:sp>
        <p:nvSpPr>
          <p:cNvPr id="3" name="TextBox 2"/>
          <p:cNvSpPr txBox="1"/>
          <p:nvPr/>
        </p:nvSpPr>
        <p:spPr>
          <a:xfrm>
            <a:off x="548640" y="548640"/>
            <a:ext cx="10972800" cy="461665"/>
          </a:xfrm>
          <a:prstGeom prst="rect">
            <a:avLst/>
          </a:prstGeom>
          <a:noFill/>
        </p:spPr>
        <p:txBody>
          <a:bodyPr wrap="square">
            <a:spAutoFit/>
          </a:bodyPr>
          <a:lstStyle/>
          <a:p>
            <a:pPr>
              <a:defRPr sz="2400" b="1">
                <a:solidFill>
                  <a:srgbClr val="0F172A"/>
                </a:solidFill>
                <a:latin typeface="Arial"/>
              </a:defRPr>
            </a:pPr>
            <a:r>
              <a:rPr dirty="0">
                <a:latin typeface="Times New Roman" panose="02020603050405020304" pitchFamily="18" charset="0"/>
              </a:rPr>
              <a:t>The Women's Mobility Gap: An Invisible Economic Tax</a:t>
            </a:r>
          </a:p>
        </p:txBody>
      </p:sp>
      <p:sp>
        <p:nvSpPr>
          <p:cNvPr id="4" name="Rectangle 3"/>
          <p:cNvSpPr/>
          <p:nvPr/>
        </p:nvSpPr>
        <p:spPr>
          <a:xfrm>
            <a:off x="548640" y="1280160"/>
            <a:ext cx="11094415" cy="1828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5" name="Rounded Rectangle 4"/>
          <p:cNvSpPr/>
          <p:nvPr/>
        </p:nvSpPr>
        <p:spPr>
          <a:xfrm>
            <a:off x="548640" y="1645920"/>
            <a:ext cx="3474720" cy="4114800"/>
          </a:xfrm>
          <a:prstGeom prst="roundRect">
            <a:avLst/>
          </a:prstGeom>
          <a:solidFill>
            <a:srgbClr val="FFFFFF"/>
          </a:solidFill>
          <a:ln w="19050">
            <a:solidFill>
              <a:srgbClr val="EF47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6" name="TextBox 5"/>
          <p:cNvSpPr txBox="1"/>
          <p:nvPr/>
        </p:nvSpPr>
        <p:spPr>
          <a:xfrm>
            <a:off x="813816" y="2267712"/>
            <a:ext cx="3200400" cy="2064668"/>
          </a:xfrm>
          <a:prstGeom prst="rect">
            <a:avLst/>
          </a:prstGeom>
          <a:noFill/>
        </p:spPr>
        <p:txBody>
          <a:bodyPr wrap="square" lIns="0" tIns="0" rIns="0" bIns="0">
            <a:spAutoFit/>
          </a:bodyPr>
          <a:lstStyle/>
          <a:p>
            <a:pPr algn="l">
              <a:spcAft>
                <a:spcPts val="1000"/>
              </a:spcAft>
              <a:defRPr sz="1400" b="1">
                <a:solidFill>
                  <a:srgbClr val="EF476F"/>
                </a:solidFill>
                <a:latin typeface="Arial"/>
              </a:defRPr>
            </a:pPr>
            <a:r>
              <a:rPr dirty="0">
                <a:latin typeface="Times New Roman" panose="02020603050405020304" pitchFamily="18" charset="0"/>
              </a:rPr>
              <a:t>1. THE LAST-MILE VOID</a:t>
            </a:r>
          </a:p>
          <a:p>
            <a:pPr algn="l">
              <a:spcAft>
                <a:spcPts val="500"/>
              </a:spcAft>
              <a:defRPr sz="1300" b="1">
                <a:solidFill>
                  <a:srgbClr val="0F172A"/>
                </a:solidFill>
                <a:latin typeface="Arial"/>
              </a:defRPr>
            </a:pPr>
            <a:r>
              <a:rPr dirty="0">
                <a:latin typeface="Times New Roman" panose="02020603050405020304" pitchFamily="18" charset="0"/>
              </a:rPr>
              <a:t>The 62% Labor Penalty:</a:t>
            </a:r>
          </a:p>
          <a:p>
            <a:pPr algn="l">
              <a:spcAft>
                <a:spcPts val="1500"/>
              </a:spcAft>
              <a:defRPr sz="1100" b="0">
                <a:solidFill>
                  <a:srgbClr val="64748B"/>
                </a:solidFill>
                <a:latin typeface="Arial"/>
              </a:defRPr>
            </a:pPr>
            <a:r>
              <a:rPr dirty="0">
                <a:latin typeface="Times New Roman" panose="02020603050405020304" pitchFamily="18" charset="0"/>
              </a:rPr>
              <a:t>Studies show 62% of working women in urban India turn down career advancement, late shifts, or distant jobs because transition routes between transit terminals and home are unlit, deserted, and unsafe.</a:t>
            </a:r>
          </a:p>
          <a:p>
            <a:pPr algn="l">
              <a:spcAft>
                <a:spcPts val="500"/>
              </a:spcAft>
              <a:defRPr sz="1200" b="1">
                <a:solidFill>
                  <a:srgbClr val="0F172A"/>
                </a:solidFill>
                <a:latin typeface="Arial"/>
              </a:defRPr>
            </a:pPr>
            <a:r>
              <a:rPr dirty="0">
                <a:latin typeface="Times New Roman" panose="02020603050405020304" pitchFamily="18" charset="0"/>
              </a:rPr>
              <a:t>Systemic Inequity:</a:t>
            </a:r>
          </a:p>
          <a:p>
            <a:pPr algn="l">
              <a:spcAft>
                <a:spcPts val="800"/>
              </a:spcAft>
              <a:defRPr sz="1100" b="0">
                <a:solidFill>
                  <a:srgbClr val="64748B"/>
                </a:solidFill>
                <a:latin typeface="Arial"/>
              </a:defRPr>
            </a:pPr>
            <a:r>
              <a:rPr dirty="0">
                <a:latin typeface="Times New Roman" panose="02020603050405020304" pitchFamily="18" charset="0"/>
              </a:rPr>
              <a:t>Commuting becomes a source of stress, forcing costly choices (e.g. private cabs) or complete labor exclusion.</a:t>
            </a:r>
          </a:p>
        </p:txBody>
      </p:sp>
      <p:sp>
        <p:nvSpPr>
          <p:cNvPr id="7" name="Rounded Rectangle 6"/>
          <p:cNvSpPr/>
          <p:nvPr/>
        </p:nvSpPr>
        <p:spPr>
          <a:xfrm>
            <a:off x="4352544" y="1645920"/>
            <a:ext cx="3474720" cy="4114800"/>
          </a:xfrm>
          <a:prstGeom prst="roundRect">
            <a:avLst/>
          </a:prstGeom>
          <a:solidFill>
            <a:srgbClr val="FFFFFF"/>
          </a:solidFill>
          <a:ln w="19050">
            <a:solidFill>
              <a:srgbClr val="EF47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8" name="TextBox 7"/>
          <p:cNvSpPr txBox="1"/>
          <p:nvPr/>
        </p:nvSpPr>
        <p:spPr>
          <a:xfrm>
            <a:off x="4626864" y="2169579"/>
            <a:ext cx="3200400" cy="2280111"/>
          </a:xfrm>
          <a:prstGeom prst="rect">
            <a:avLst/>
          </a:prstGeom>
          <a:noFill/>
        </p:spPr>
        <p:txBody>
          <a:bodyPr wrap="square" lIns="0" tIns="0" rIns="0" bIns="0">
            <a:spAutoFit/>
          </a:bodyPr>
          <a:lstStyle/>
          <a:p>
            <a:pPr algn="l">
              <a:spcAft>
                <a:spcPts val="1000"/>
              </a:spcAft>
              <a:defRPr sz="1400" b="1">
                <a:solidFill>
                  <a:srgbClr val="EF476F"/>
                </a:solidFill>
                <a:latin typeface="Arial"/>
              </a:defRPr>
            </a:pPr>
            <a:r>
              <a:rPr dirty="0">
                <a:latin typeface="Times New Roman" panose="02020603050405020304" pitchFamily="18" charset="0"/>
              </a:rPr>
              <a:t>2. ROUTING ALGORITHM BLINDSPOTS</a:t>
            </a:r>
          </a:p>
          <a:p>
            <a:pPr algn="l">
              <a:spcAft>
                <a:spcPts val="500"/>
              </a:spcAft>
              <a:defRPr sz="1300" b="1">
                <a:solidFill>
                  <a:srgbClr val="0F172A"/>
                </a:solidFill>
                <a:latin typeface="Arial"/>
              </a:defRPr>
            </a:pPr>
            <a:r>
              <a:rPr dirty="0">
                <a:latin typeface="Times New Roman" panose="02020603050405020304" pitchFamily="18" charset="0"/>
              </a:rPr>
              <a:t>Safety-Blind Directions:</a:t>
            </a:r>
          </a:p>
          <a:p>
            <a:pPr algn="l">
              <a:spcAft>
                <a:spcPts val="1500"/>
              </a:spcAft>
              <a:defRPr sz="1100" b="0">
                <a:solidFill>
                  <a:srgbClr val="64748B"/>
                </a:solidFill>
                <a:latin typeface="Arial"/>
              </a:defRPr>
            </a:pPr>
            <a:r>
              <a:rPr dirty="0">
                <a:latin typeface="Times New Roman" panose="02020603050405020304" pitchFamily="18" charset="0"/>
              </a:rPr>
              <a:t>Current commercial mapping engines route solely based on traffic speed and physical distance. They steer women down unlit, isolated alleyways to save 120 seconds, exposing them to danger.</a:t>
            </a:r>
          </a:p>
          <a:p>
            <a:pPr algn="l">
              <a:spcAft>
                <a:spcPts val="500"/>
              </a:spcAft>
              <a:defRPr sz="1200" b="1">
                <a:solidFill>
                  <a:srgbClr val="0F172A"/>
                </a:solidFill>
                <a:latin typeface="Arial"/>
              </a:defRPr>
            </a:pPr>
            <a:r>
              <a:rPr dirty="0">
                <a:latin typeface="Times New Roman" panose="02020603050405020304" pitchFamily="18" charset="0"/>
              </a:rPr>
              <a:t>Infrastructure Gaps:</a:t>
            </a:r>
          </a:p>
          <a:p>
            <a:pPr algn="l">
              <a:spcAft>
                <a:spcPts val="800"/>
              </a:spcAft>
              <a:defRPr sz="1100" b="0">
                <a:solidFill>
                  <a:srgbClr val="64748B"/>
                </a:solidFill>
                <a:latin typeface="Arial"/>
              </a:defRPr>
            </a:pPr>
            <a:r>
              <a:rPr dirty="0">
                <a:latin typeface="Times New Roman" panose="02020603050405020304" pitchFamily="18" charset="0"/>
              </a:rPr>
              <a:t>Municipal agencies fail to share live streetlight status, active stores, and policing patterns with routing models.</a:t>
            </a:r>
          </a:p>
        </p:txBody>
      </p:sp>
      <p:sp>
        <p:nvSpPr>
          <p:cNvPr id="9" name="Rounded Rectangle 8"/>
          <p:cNvSpPr/>
          <p:nvPr/>
        </p:nvSpPr>
        <p:spPr>
          <a:xfrm>
            <a:off x="8165592" y="1645920"/>
            <a:ext cx="3474720" cy="4114800"/>
          </a:xfrm>
          <a:prstGeom prst="roundRect">
            <a:avLst/>
          </a:prstGeom>
          <a:solidFill>
            <a:srgbClr val="FFFFFF"/>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10" name="TextBox 9"/>
          <p:cNvSpPr txBox="1"/>
          <p:nvPr/>
        </p:nvSpPr>
        <p:spPr>
          <a:xfrm>
            <a:off x="8321040" y="2169579"/>
            <a:ext cx="3200400" cy="2449388"/>
          </a:xfrm>
          <a:prstGeom prst="rect">
            <a:avLst/>
          </a:prstGeom>
          <a:noFill/>
        </p:spPr>
        <p:txBody>
          <a:bodyPr wrap="square" lIns="0" tIns="0" rIns="0" bIns="0">
            <a:spAutoFit/>
          </a:bodyPr>
          <a:lstStyle/>
          <a:p>
            <a:pPr algn="l">
              <a:spcAft>
                <a:spcPts val="1000"/>
              </a:spcAft>
              <a:defRPr sz="1400" b="1">
                <a:solidFill>
                  <a:srgbClr val="0F172A"/>
                </a:solidFill>
                <a:latin typeface="Arial"/>
              </a:defRPr>
            </a:pPr>
            <a:r>
              <a:rPr dirty="0">
                <a:latin typeface="Times New Roman" panose="02020603050405020304" pitchFamily="18" charset="0"/>
              </a:rPr>
              <a:t>3. UNVERIFIED ISOLATED COMMUTES</a:t>
            </a:r>
          </a:p>
          <a:p>
            <a:pPr algn="l">
              <a:spcAft>
                <a:spcPts val="500"/>
              </a:spcAft>
              <a:defRPr sz="1300" b="1">
                <a:solidFill>
                  <a:srgbClr val="0F172A"/>
                </a:solidFill>
                <a:latin typeface="Arial"/>
              </a:defRPr>
            </a:pPr>
            <a:r>
              <a:rPr dirty="0">
                <a:latin typeface="Times New Roman" panose="02020603050405020304" pitchFamily="18" charset="0"/>
              </a:rPr>
              <a:t>Passive Tracking Failure:</a:t>
            </a:r>
          </a:p>
          <a:p>
            <a:pPr algn="l">
              <a:spcAft>
                <a:spcPts val="1500"/>
              </a:spcAft>
              <a:defRPr sz="1100" b="0">
                <a:solidFill>
                  <a:srgbClr val="64748B"/>
                </a:solidFill>
                <a:latin typeface="Arial"/>
              </a:defRPr>
            </a:pPr>
            <a:r>
              <a:rPr dirty="0">
                <a:latin typeface="Times New Roman" panose="02020603050405020304" pitchFamily="18" charset="0"/>
              </a:rPr>
              <a:t>Once inside an auto-rickshaw or cab, a passenger is in a closed environment. Sudden stops in dark layout roads or deviations are not checked until a panic alarm is manually triggered.</a:t>
            </a:r>
          </a:p>
          <a:p>
            <a:pPr algn="l">
              <a:spcAft>
                <a:spcPts val="500"/>
              </a:spcAft>
              <a:defRPr sz="1200" b="1">
                <a:solidFill>
                  <a:srgbClr val="0F172A"/>
                </a:solidFill>
                <a:latin typeface="Arial"/>
              </a:defRPr>
            </a:pPr>
            <a:r>
              <a:rPr dirty="0">
                <a:latin typeface="Times New Roman" panose="02020603050405020304" pitchFamily="18" charset="0"/>
              </a:rPr>
              <a:t>Siloed Resources:</a:t>
            </a:r>
          </a:p>
          <a:p>
            <a:pPr algn="l">
              <a:spcAft>
                <a:spcPts val="800"/>
              </a:spcAft>
              <a:defRPr sz="1100" b="0">
                <a:solidFill>
                  <a:srgbClr val="64748B"/>
                </a:solidFill>
                <a:latin typeface="Arial"/>
              </a:defRPr>
            </a:pPr>
            <a:r>
              <a:rPr dirty="0">
                <a:latin typeface="Times New Roman" panose="02020603050405020304" pitchFamily="18" charset="0"/>
              </a:rPr>
              <a:t>Local street shops (</a:t>
            </a:r>
            <a:r>
              <a:rPr dirty="0" err="1">
                <a:latin typeface="Times New Roman" panose="02020603050405020304" pitchFamily="18" charset="0"/>
              </a:rPr>
              <a:t>kiranas</a:t>
            </a:r>
            <a:r>
              <a:rPr dirty="0">
                <a:latin typeface="Times New Roman" panose="02020603050405020304" pitchFamily="18" charset="0"/>
              </a:rPr>
              <a:t>), nearby commuters, and patrolling units operate in silos, unable to act as collective safety nets.</a:t>
            </a: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46221"/>
          </a:xfrm>
          <a:prstGeom prst="rect">
            <a:avLst/>
          </a:prstGeom>
          <a:noFill/>
        </p:spPr>
        <p:txBody>
          <a:bodyPr wrap="square">
            <a:spAutoFit/>
          </a:bodyPr>
          <a:lstStyle/>
          <a:p>
            <a:pPr>
              <a:defRPr sz="1000" b="1">
                <a:solidFill>
                  <a:srgbClr val="00C2A8"/>
                </a:solidFill>
                <a:latin typeface="Arial"/>
              </a:defRPr>
            </a:pPr>
            <a:r>
              <a:rPr dirty="0">
                <a:latin typeface="Times New Roman" panose="02020603050405020304" pitchFamily="18" charset="0"/>
              </a:rPr>
              <a:t>PROBLEM TREE</a:t>
            </a:r>
          </a:p>
        </p:txBody>
      </p:sp>
      <p:sp>
        <p:nvSpPr>
          <p:cNvPr id="3" name="TextBox 2"/>
          <p:cNvSpPr txBox="1"/>
          <p:nvPr/>
        </p:nvSpPr>
        <p:spPr>
          <a:xfrm>
            <a:off x="548640" y="548640"/>
            <a:ext cx="10972800" cy="461665"/>
          </a:xfrm>
          <a:prstGeom prst="rect">
            <a:avLst/>
          </a:prstGeom>
          <a:noFill/>
        </p:spPr>
        <p:txBody>
          <a:bodyPr wrap="square">
            <a:spAutoFit/>
          </a:bodyPr>
          <a:lstStyle/>
          <a:p>
            <a:pPr>
              <a:defRPr sz="2400" b="1">
                <a:solidFill>
                  <a:srgbClr val="0F172A"/>
                </a:solidFill>
                <a:latin typeface="Arial"/>
              </a:defRPr>
            </a:pPr>
            <a:r>
              <a:rPr dirty="0">
                <a:latin typeface="Times New Roman" panose="02020603050405020304" pitchFamily="18" charset="0"/>
              </a:rPr>
              <a:t>Root Cause Analysis: Systemic Infrastructure &amp; Cognitive Gaps</a:t>
            </a:r>
          </a:p>
        </p:txBody>
      </p:sp>
      <p:sp>
        <p:nvSpPr>
          <p:cNvPr id="4" name="Rectangle 3"/>
          <p:cNvSpPr/>
          <p:nvPr/>
        </p:nvSpPr>
        <p:spPr>
          <a:xfrm>
            <a:off x="548640" y="1280160"/>
            <a:ext cx="11094415" cy="1828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5" name="Rounded Rectangle 4"/>
          <p:cNvSpPr/>
          <p:nvPr/>
        </p:nvSpPr>
        <p:spPr>
          <a:xfrm>
            <a:off x="548640" y="2011680"/>
            <a:ext cx="2926080" cy="118872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Arial"/>
              </a:defRPr>
            </a:pPr>
            <a:r>
              <a:rPr dirty="0">
                <a:latin typeface="Times New Roman" panose="02020603050405020304" pitchFamily="18" charset="0"/>
              </a:rPr>
              <a:t>ALGORITHMIC BLINDSPOTS</a:t>
            </a:r>
            <a:br>
              <a:rPr dirty="0">
                <a:latin typeface="Times New Roman" panose="02020603050405020304" pitchFamily="18" charset="0"/>
              </a:rPr>
            </a:br>
            <a:r>
              <a:rPr dirty="0">
                <a:latin typeface="Times New Roman" panose="02020603050405020304" pitchFamily="18" charset="0"/>
              </a:rPr>
              <a:t>Standard GP</a:t>
            </a:r>
            <a:r>
              <a:rPr lang="en-IN" dirty="0">
                <a:latin typeface="Times New Roman" panose="02020603050405020304" pitchFamily="18" charset="0"/>
              </a:rPr>
              <a:t>S</a:t>
            </a:r>
            <a:r>
              <a:rPr dirty="0">
                <a:latin typeface="Times New Roman" panose="02020603050405020304" pitchFamily="18" charset="0"/>
              </a:rPr>
              <a:t> prioritizes time/speed, ignoring ambient light and local storefront density.</a:t>
            </a:r>
          </a:p>
        </p:txBody>
      </p:sp>
      <p:sp>
        <p:nvSpPr>
          <p:cNvPr id="6" name="Rounded Rectangle 5"/>
          <p:cNvSpPr/>
          <p:nvPr/>
        </p:nvSpPr>
        <p:spPr>
          <a:xfrm>
            <a:off x="4297680" y="2011680"/>
            <a:ext cx="2926080" cy="118872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Arial"/>
              </a:defRPr>
            </a:pPr>
            <a:r>
              <a:rPr dirty="0">
                <a:latin typeface="Times New Roman" panose="02020603050405020304" pitchFamily="18" charset="0"/>
              </a:rPr>
              <a:t>INFRASTRUCTURE GAPS</a:t>
            </a:r>
            <a:br>
              <a:rPr dirty="0">
                <a:latin typeface="Times New Roman" panose="02020603050405020304" pitchFamily="18" charset="0"/>
              </a:rPr>
            </a:br>
            <a:r>
              <a:rPr dirty="0">
                <a:latin typeface="Times New Roman" panose="02020603050405020304" pitchFamily="18" charset="0"/>
              </a:rPr>
              <a:t>No real-time linkage between municipal digital twins and active security resources.</a:t>
            </a:r>
          </a:p>
        </p:txBody>
      </p:sp>
      <p:sp>
        <p:nvSpPr>
          <p:cNvPr id="7" name="Rounded Rectangle 6"/>
          <p:cNvSpPr/>
          <p:nvPr/>
        </p:nvSpPr>
        <p:spPr>
          <a:xfrm>
            <a:off x="8046720" y="2011680"/>
            <a:ext cx="2926080" cy="118872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Arial"/>
              </a:defRPr>
            </a:pPr>
            <a:r>
              <a:rPr dirty="0">
                <a:latin typeface="Times New Roman" panose="02020603050405020304" pitchFamily="18" charset="0"/>
              </a:rPr>
              <a:t>SILOED ASSETS</a:t>
            </a:r>
            <a:br>
              <a:rPr dirty="0">
                <a:latin typeface="Times New Roman" panose="02020603050405020304" pitchFamily="18" charset="0"/>
              </a:rPr>
            </a:br>
            <a:r>
              <a:rPr dirty="0">
                <a:latin typeface="Times New Roman" panose="02020603050405020304" pitchFamily="18" charset="0"/>
              </a:rPr>
              <a:t>Local merchants, police patrols, and nearby commuters cannot coordinate safety.</a:t>
            </a:r>
          </a:p>
        </p:txBody>
      </p:sp>
      <p:sp>
        <p:nvSpPr>
          <p:cNvPr id="8" name="Down Arrow 7"/>
          <p:cNvSpPr/>
          <p:nvPr/>
        </p:nvSpPr>
        <p:spPr>
          <a:xfrm>
            <a:off x="1920240" y="3291840"/>
            <a:ext cx="182880" cy="365760"/>
          </a:xfrm>
          <a:prstGeom prst="downArrow">
            <a:avLst/>
          </a:prstGeom>
          <a:solidFill>
            <a:srgbClr val="EF47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9" name="Down Arrow 8"/>
          <p:cNvSpPr/>
          <p:nvPr/>
        </p:nvSpPr>
        <p:spPr>
          <a:xfrm>
            <a:off x="5669280" y="3291840"/>
            <a:ext cx="182880" cy="365760"/>
          </a:xfrm>
          <a:prstGeom prst="downArrow">
            <a:avLst/>
          </a:prstGeom>
          <a:solidFill>
            <a:srgbClr val="EF47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10" name="Down Arrow 9"/>
          <p:cNvSpPr/>
          <p:nvPr/>
        </p:nvSpPr>
        <p:spPr>
          <a:xfrm>
            <a:off x="9418320" y="3291840"/>
            <a:ext cx="182880" cy="365760"/>
          </a:xfrm>
          <a:prstGeom prst="downArrow">
            <a:avLst/>
          </a:prstGeom>
          <a:solidFill>
            <a:srgbClr val="EF47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11" name="Rounded Rectangle 10"/>
          <p:cNvSpPr/>
          <p:nvPr/>
        </p:nvSpPr>
        <p:spPr>
          <a:xfrm>
            <a:off x="548640" y="3749039"/>
            <a:ext cx="2926080" cy="118872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Arial"/>
              </a:defRPr>
            </a:pPr>
            <a:r>
              <a:rPr dirty="0">
                <a:latin typeface="Times New Roman" panose="02020603050405020304" pitchFamily="18" charset="0"/>
              </a:rPr>
              <a:t>Route Deviation Blind</a:t>
            </a:r>
            <a:r>
              <a:rPr lang="en-IN" dirty="0">
                <a:latin typeface="Times New Roman" panose="02020603050405020304" pitchFamily="18" charset="0"/>
              </a:rPr>
              <a:t> </a:t>
            </a:r>
            <a:r>
              <a:rPr dirty="0">
                <a:latin typeface="Times New Roman" panose="02020603050405020304" pitchFamily="18" charset="0"/>
              </a:rPr>
              <a:t>spots</a:t>
            </a:r>
            <a:br>
              <a:rPr dirty="0">
                <a:latin typeface="Times New Roman" panose="02020603050405020304" pitchFamily="18" charset="0"/>
              </a:rPr>
            </a:br>
            <a:r>
              <a:rPr dirty="0">
                <a:latin typeface="Times New Roman" panose="02020603050405020304" pitchFamily="18" charset="0"/>
              </a:rPr>
              <a:t>No immediate anomaly check when vehicles leave designated routes.</a:t>
            </a:r>
          </a:p>
        </p:txBody>
      </p:sp>
      <p:sp>
        <p:nvSpPr>
          <p:cNvPr id="12" name="Rounded Rectangle 11"/>
          <p:cNvSpPr/>
          <p:nvPr/>
        </p:nvSpPr>
        <p:spPr>
          <a:xfrm>
            <a:off x="4297680" y="3749039"/>
            <a:ext cx="2926080" cy="118872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Arial"/>
              </a:defRPr>
            </a:pPr>
            <a:r>
              <a:rPr dirty="0">
                <a:latin typeface="Times New Roman" panose="02020603050405020304" pitchFamily="18" charset="0"/>
              </a:rPr>
              <a:t>Alleyway Exposure Risks</a:t>
            </a:r>
            <a:br>
              <a:rPr dirty="0">
                <a:latin typeface="Times New Roman" panose="02020603050405020304" pitchFamily="18" charset="0"/>
              </a:rPr>
            </a:br>
            <a:r>
              <a:rPr dirty="0">
                <a:latin typeface="Times New Roman" panose="02020603050405020304" pitchFamily="18" charset="0"/>
              </a:rPr>
              <a:t>Commuters are funneled through dark layout roads under cover of night.</a:t>
            </a:r>
          </a:p>
        </p:txBody>
      </p:sp>
      <p:sp>
        <p:nvSpPr>
          <p:cNvPr id="13" name="Rounded Rectangle 12"/>
          <p:cNvSpPr/>
          <p:nvPr/>
        </p:nvSpPr>
        <p:spPr>
          <a:xfrm>
            <a:off x="8046720" y="3749039"/>
            <a:ext cx="2926080" cy="118872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Arial"/>
              </a:defRPr>
            </a:pPr>
            <a:r>
              <a:rPr dirty="0">
                <a:latin typeface="Times New Roman" panose="02020603050405020304" pitchFamily="18" charset="0"/>
              </a:rPr>
              <a:t>Siloed Panic Scenarios</a:t>
            </a:r>
            <a:br>
              <a:rPr dirty="0">
                <a:latin typeface="Times New Roman" panose="02020603050405020304" pitchFamily="18" charset="0"/>
              </a:rPr>
            </a:br>
            <a:r>
              <a:rPr dirty="0">
                <a:latin typeface="Times New Roman" panose="02020603050405020304" pitchFamily="18" charset="0"/>
              </a:rPr>
              <a:t>Panic alarms are triggered post-incident, leaving victims isolated.</a:t>
            </a:r>
          </a:p>
        </p:txBody>
      </p:sp>
      <p:sp>
        <p:nvSpPr>
          <p:cNvPr id="14" name="Down Arrow 13"/>
          <p:cNvSpPr/>
          <p:nvPr/>
        </p:nvSpPr>
        <p:spPr>
          <a:xfrm>
            <a:off x="1920240" y="5029200"/>
            <a:ext cx="182880" cy="365760"/>
          </a:xfrm>
          <a:prstGeom prst="downArrow">
            <a:avLst/>
          </a:prstGeom>
          <a:solidFill>
            <a:srgbClr val="00C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15" name="Down Arrow 14"/>
          <p:cNvSpPr/>
          <p:nvPr/>
        </p:nvSpPr>
        <p:spPr>
          <a:xfrm>
            <a:off x="5669280" y="5029200"/>
            <a:ext cx="182880" cy="365760"/>
          </a:xfrm>
          <a:prstGeom prst="downArrow">
            <a:avLst/>
          </a:prstGeom>
          <a:solidFill>
            <a:srgbClr val="00C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16" name="Down Arrow 15"/>
          <p:cNvSpPr/>
          <p:nvPr/>
        </p:nvSpPr>
        <p:spPr>
          <a:xfrm>
            <a:off x="9418320" y="5029200"/>
            <a:ext cx="182880" cy="365760"/>
          </a:xfrm>
          <a:prstGeom prst="downArrow">
            <a:avLst/>
          </a:prstGeom>
          <a:solidFill>
            <a:srgbClr val="00C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17" name="Rounded Rectangle 16"/>
          <p:cNvSpPr/>
          <p:nvPr/>
        </p:nvSpPr>
        <p:spPr>
          <a:xfrm>
            <a:off x="548640" y="5486400"/>
            <a:ext cx="2926080" cy="118872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Arial"/>
              </a:defRPr>
            </a:pPr>
            <a:r>
              <a:rPr dirty="0">
                <a:latin typeface="Times New Roman" panose="02020603050405020304" pitchFamily="18" charset="0"/>
              </a:rPr>
              <a:t>High Commuting Anxiety</a:t>
            </a:r>
            <a:br>
              <a:rPr dirty="0">
                <a:latin typeface="Times New Roman" panose="02020603050405020304" pitchFamily="18" charset="0"/>
              </a:rPr>
            </a:br>
            <a:r>
              <a:rPr dirty="0">
                <a:latin typeface="Times New Roman" panose="02020603050405020304" pitchFamily="18" charset="0"/>
              </a:rPr>
              <a:t>Permanent cognitive overload and fear during the final mile.</a:t>
            </a:r>
          </a:p>
        </p:txBody>
      </p:sp>
      <p:sp>
        <p:nvSpPr>
          <p:cNvPr id="18" name="Rounded Rectangle 17"/>
          <p:cNvSpPr/>
          <p:nvPr/>
        </p:nvSpPr>
        <p:spPr>
          <a:xfrm>
            <a:off x="4297680" y="5486400"/>
            <a:ext cx="2926080" cy="118872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Arial"/>
              </a:defRPr>
            </a:pPr>
            <a:r>
              <a:rPr dirty="0">
                <a:latin typeface="Times New Roman" panose="02020603050405020304" pitchFamily="18" charset="0"/>
              </a:rPr>
              <a:t>Labor &amp; Career Exclusion</a:t>
            </a:r>
            <a:br>
              <a:rPr dirty="0">
                <a:latin typeface="Times New Roman" panose="02020603050405020304" pitchFamily="18" charset="0"/>
              </a:rPr>
            </a:br>
            <a:r>
              <a:rPr dirty="0">
                <a:latin typeface="Times New Roman" panose="02020603050405020304" pitchFamily="18" charset="0"/>
              </a:rPr>
              <a:t>Women turning down jobs, restricting late-shift labor participation.</a:t>
            </a:r>
          </a:p>
        </p:txBody>
      </p:sp>
      <p:sp>
        <p:nvSpPr>
          <p:cNvPr id="19" name="Rounded Rectangle 18"/>
          <p:cNvSpPr/>
          <p:nvPr/>
        </p:nvSpPr>
        <p:spPr>
          <a:xfrm>
            <a:off x="8046720" y="5486400"/>
            <a:ext cx="2926080" cy="118872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Arial"/>
              </a:defRPr>
            </a:pPr>
            <a:r>
              <a:rPr dirty="0">
                <a:latin typeface="Times New Roman" panose="02020603050405020304" pitchFamily="18" charset="0"/>
              </a:rPr>
              <a:t>Macroeconomic Inequity</a:t>
            </a:r>
            <a:br>
              <a:rPr dirty="0">
                <a:latin typeface="Times New Roman" panose="02020603050405020304" pitchFamily="18" charset="0"/>
              </a:rPr>
            </a:br>
            <a:r>
              <a:rPr dirty="0">
                <a:latin typeface="Times New Roman" panose="02020603050405020304" pitchFamily="18" charset="0"/>
              </a:rPr>
              <a:t>Systemic workforce drag due to unmonitored transition spaces.</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46221"/>
          </a:xfrm>
          <a:prstGeom prst="rect">
            <a:avLst/>
          </a:prstGeom>
          <a:noFill/>
        </p:spPr>
        <p:txBody>
          <a:bodyPr wrap="square">
            <a:spAutoFit/>
          </a:bodyPr>
          <a:lstStyle/>
          <a:p>
            <a:pPr>
              <a:defRPr sz="1000" b="1">
                <a:solidFill>
                  <a:srgbClr val="00C2A8"/>
                </a:solidFill>
                <a:latin typeface="Arial"/>
              </a:defRPr>
            </a:pPr>
            <a:r>
              <a:rPr dirty="0">
                <a:latin typeface="Times New Roman" panose="02020603050405020304" pitchFamily="18" charset="0"/>
              </a:rPr>
              <a:t>COMPETITIVE ANALYSIS</a:t>
            </a:r>
          </a:p>
        </p:txBody>
      </p:sp>
      <p:sp>
        <p:nvSpPr>
          <p:cNvPr id="3" name="TextBox 2"/>
          <p:cNvSpPr txBox="1"/>
          <p:nvPr/>
        </p:nvSpPr>
        <p:spPr>
          <a:xfrm>
            <a:off x="548640" y="548640"/>
            <a:ext cx="10972800" cy="461665"/>
          </a:xfrm>
          <a:prstGeom prst="rect">
            <a:avLst/>
          </a:prstGeom>
          <a:noFill/>
        </p:spPr>
        <p:txBody>
          <a:bodyPr wrap="square">
            <a:spAutoFit/>
          </a:bodyPr>
          <a:lstStyle/>
          <a:p>
            <a:pPr>
              <a:defRPr sz="2400" b="1">
                <a:solidFill>
                  <a:srgbClr val="0F172A"/>
                </a:solidFill>
                <a:latin typeface="Arial"/>
              </a:defRPr>
            </a:pPr>
            <a:r>
              <a:rPr dirty="0">
                <a:latin typeface="Times New Roman" panose="02020603050405020304" pitchFamily="18" charset="0"/>
              </a:rPr>
              <a:t>The Reactive Illusion: Why Existing Solutions Fail to Protect</a:t>
            </a:r>
          </a:p>
        </p:txBody>
      </p:sp>
      <p:sp>
        <p:nvSpPr>
          <p:cNvPr id="4" name="Rectangle 3"/>
          <p:cNvSpPr/>
          <p:nvPr/>
        </p:nvSpPr>
        <p:spPr>
          <a:xfrm>
            <a:off x="548640" y="1280160"/>
            <a:ext cx="11094415" cy="1828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5" name="TextBox 4"/>
          <p:cNvSpPr txBox="1"/>
          <p:nvPr/>
        </p:nvSpPr>
        <p:spPr>
          <a:xfrm>
            <a:off x="548640" y="1645920"/>
            <a:ext cx="4389120" cy="3667671"/>
          </a:xfrm>
          <a:prstGeom prst="rect">
            <a:avLst/>
          </a:prstGeom>
          <a:noFill/>
        </p:spPr>
        <p:txBody>
          <a:bodyPr wrap="square" lIns="0" tIns="0" rIns="0" bIns="0">
            <a:spAutoFit/>
          </a:bodyPr>
          <a:lstStyle/>
          <a:p>
            <a:pPr algn="l">
              <a:spcAft>
                <a:spcPts val="1500"/>
              </a:spcAft>
              <a:defRPr sz="1500" b="1">
                <a:solidFill>
                  <a:srgbClr val="EF476F"/>
                </a:solidFill>
                <a:latin typeface="Arial"/>
              </a:defRPr>
            </a:pPr>
            <a:r>
              <a:rPr sz="1500" dirty="0">
                <a:latin typeface="Times New Roman" panose="02020603050405020304" pitchFamily="18" charset="0"/>
              </a:rPr>
              <a:t>THE PROBLEM WITH THE STATUS QUO</a:t>
            </a:r>
          </a:p>
          <a:p>
            <a:pPr algn="l">
              <a:spcAft>
                <a:spcPts val="1000"/>
              </a:spcAft>
              <a:defRPr sz="1200" b="0">
                <a:solidFill>
                  <a:srgbClr val="0F172A"/>
                </a:solidFill>
                <a:latin typeface="Arial"/>
              </a:defRPr>
            </a:pPr>
            <a:r>
              <a:rPr sz="1500" dirty="0">
                <a:latin typeface="Times New Roman" panose="02020603050405020304" pitchFamily="18" charset="0"/>
              </a:rPr>
              <a:t>• SOS apps require manual activation during high distress, which is physically and cognitively difficult.</a:t>
            </a:r>
          </a:p>
          <a:p>
            <a:pPr algn="l">
              <a:spcAft>
                <a:spcPts val="1000"/>
              </a:spcAft>
              <a:defRPr sz="1200" b="0">
                <a:solidFill>
                  <a:srgbClr val="0F172A"/>
                </a:solidFill>
                <a:latin typeface="Arial"/>
              </a:defRPr>
            </a:pPr>
            <a:r>
              <a:rPr sz="1500" dirty="0">
                <a:latin typeface="Times New Roman" panose="02020603050405020304" pitchFamily="18" charset="0"/>
              </a:rPr>
              <a:t>• Standard navigation engines choose routes purely by travel speed, ignoring environmental lighting.</a:t>
            </a:r>
          </a:p>
          <a:p>
            <a:pPr algn="l">
              <a:spcAft>
                <a:spcPts val="2500"/>
              </a:spcAft>
              <a:defRPr sz="1200" b="0">
                <a:solidFill>
                  <a:srgbClr val="0F172A"/>
                </a:solidFill>
                <a:latin typeface="Arial"/>
              </a:defRPr>
            </a:pPr>
            <a:r>
              <a:rPr sz="1500" dirty="0">
                <a:latin typeface="Times New Roman" panose="02020603050405020304" pitchFamily="18" charset="0"/>
              </a:rPr>
              <a:t>• There is a lack of dynamic spatial shielding and coordinate matching, leaving commuters isolated.</a:t>
            </a:r>
          </a:p>
          <a:p>
            <a:pPr algn="l">
              <a:spcAft>
                <a:spcPts val="1000"/>
              </a:spcAft>
              <a:defRPr sz="1400" b="1">
                <a:solidFill>
                  <a:srgbClr val="00C2A8"/>
                </a:solidFill>
                <a:latin typeface="Arial"/>
              </a:defRPr>
            </a:pPr>
            <a:r>
              <a:rPr sz="1500" dirty="0">
                <a:latin typeface="Times New Roman" panose="02020603050405020304" pitchFamily="18" charset="0"/>
              </a:rPr>
              <a:t>THE AURAPATH SHIFT: PREVENTATIVE ARCHITECTURE</a:t>
            </a:r>
          </a:p>
          <a:p>
            <a:pPr algn="l">
              <a:spcAft>
                <a:spcPts val="800"/>
              </a:spcAft>
              <a:defRPr sz="1100" b="0">
                <a:solidFill>
                  <a:srgbClr val="64748B"/>
                </a:solidFill>
                <a:latin typeface="Arial"/>
              </a:defRPr>
            </a:pPr>
            <a:r>
              <a:rPr sz="1500" dirty="0">
                <a:latin typeface="Times New Roman" panose="02020603050405020304" pitchFamily="18" charset="0"/>
              </a:rPr>
              <a:t>Instead of reacting to a threat, </a:t>
            </a:r>
            <a:r>
              <a:rPr sz="1500" dirty="0" err="1">
                <a:latin typeface="Times New Roman" panose="02020603050405020304" pitchFamily="18" charset="0"/>
              </a:rPr>
              <a:t>AuraPath</a:t>
            </a:r>
            <a:r>
              <a:rPr sz="1500" dirty="0">
                <a:latin typeface="Times New Roman" panose="02020603050405020304" pitchFamily="18" charset="0"/>
              </a:rPr>
              <a:t> coordinates routes, verified walking bubbles, and local merchant sanctuaries to deter threats in real-time.</a:t>
            </a:r>
          </a:p>
        </p:txBody>
      </p:sp>
      <p:sp>
        <p:nvSpPr>
          <p:cNvPr id="6" name="Rounded Rectangle 5"/>
          <p:cNvSpPr/>
          <p:nvPr/>
        </p:nvSpPr>
        <p:spPr>
          <a:xfrm>
            <a:off x="5120640" y="1645920"/>
            <a:ext cx="157734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0F172A"/>
                </a:solidFill>
                <a:latin typeface="Arial"/>
              </a:defRPr>
            </a:pPr>
            <a:r>
              <a:rPr dirty="0">
                <a:latin typeface="Times New Roman" panose="02020603050405020304" pitchFamily="18" charset="0"/>
              </a:rPr>
              <a:t>FEATURE</a:t>
            </a:r>
          </a:p>
        </p:txBody>
      </p:sp>
      <p:sp>
        <p:nvSpPr>
          <p:cNvPr id="7" name="Rounded Rectangle 6"/>
          <p:cNvSpPr/>
          <p:nvPr/>
        </p:nvSpPr>
        <p:spPr>
          <a:xfrm>
            <a:off x="6743700" y="1645920"/>
            <a:ext cx="157734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0F172A"/>
                </a:solidFill>
                <a:latin typeface="Arial"/>
              </a:defRPr>
            </a:pPr>
            <a:r>
              <a:rPr dirty="0">
                <a:latin typeface="Times New Roman" panose="02020603050405020304" pitchFamily="18" charset="0"/>
              </a:rPr>
              <a:t>SOS APPS</a:t>
            </a:r>
          </a:p>
        </p:txBody>
      </p:sp>
      <p:sp>
        <p:nvSpPr>
          <p:cNvPr id="8" name="Rounded Rectangle 7"/>
          <p:cNvSpPr/>
          <p:nvPr/>
        </p:nvSpPr>
        <p:spPr>
          <a:xfrm>
            <a:off x="8366760" y="1645920"/>
            <a:ext cx="157734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0F172A"/>
                </a:solidFill>
                <a:latin typeface="Arial"/>
              </a:defRPr>
            </a:pPr>
            <a:r>
              <a:rPr dirty="0">
                <a:latin typeface="Times New Roman" panose="02020603050405020304" pitchFamily="18" charset="0"/>
              </a:rPr>
              <a:t>GPS MAPS</a:t>
            </a:r>
          </a:p>
        </p:txBody>
      </p:sp>
      <p:sp>
        <p:nvSpPr>
          <p:cNvPr id="9" name="Rounded Rectangle 8"/>
          <p:cNvSpPr/>
          <p:nvPr/>
        </p:nvSpPr>
        <p:spPr>
          <a:xfrm>
            <a:off x="9989820" y="1645920"/>
            <a:ext cx="1577340" cy="640080"/>
          </a:xfrm>
          <a:prstGeom prst="round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Arial"/>
              </a:defRPr>
            </a:pPr>
            <a:r>
              <a:rPr dirty="0">
                <a:latin typeface="Times New Roman" panose="02020603050405020304" pitchFamily="18" charset="0"/>
              </a:rPr>
              <a:t>AURAPATH</a:t>
            </a:r>
          </a:p>
        </p:txBody>
      </p:sp>
      <p:sp>
        <p:nvSpPr>
          <p:cNvPr id="10" name="Rounded Rectangle 9"/>
          <p:cNvSpPr/>
          <p:nvPr/>
        </p:nvSpPr>
        <p:spPr>
          <a:xfrm>
            <a:off x="5120640" y="23774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Routing Metric</a:t>
            </a:r>
          </a:p>
        </p:txBody>
      </p:sp>
      <p:sp>
        <p:nvSpPr>
          <p:cNvPr id="11" name="Rounded Rectangle 10"/>
          <p:cNvSpPr/>
          <p:nvPr/>
        </p:nvSpPr>
        <p:spPr>
          <a:xfrm>
            <a:off x="6743700" y="23774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Speed &amp; Traffic</a:t>
            </a:r>
          </a:p>
        </p:txBody>
      </p:sp>
      <p:sp>
        <p:nvSpPr>
          <p:cNvPr id="12" name="Rounded Rectangle 11"/>
          <p:cNvSpPr/>
          <p:nvPr/>
        </p:nvSpPr>
        <p:spPr>
          <a:xfrm>
            <a:off x="8366760" y="23774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Speed &amp; Traffic</a:t>
            </a:r>
          </a:p>
        </p:txBody>
      </p:sp>
      <p:sp>
        <p:nvSpPr>
          <p:cNvPr id="13" name="Rounded Rectangle 12"/>
          <p:cNvSpPr/>
          <p:nvPr/>
        </p:nvSpPr>
        <p:spPr>
          <a:xfrm>
            <a:off x="9989820" y="23774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00C2A8"/>
                </a:solidFill>
                <a:latin typeface="Arial"/>
              </a:defRPr>
            </a:pPr>
            <a:r>
              <a:rPr dirty="0">
                <a:latin typeface="Times New Roman" panose="02020603050405020304" pitchFamily="18" charset="0"/>
              </a:rPr>
              <a:t>Safe Corridor (UVI)</a:t>
            </a:r>
          </a:p>
        </p:txBody>
      </p:sp>
      <p:sp>
        <p:nvSpPr>
          <p:cNvPr id="14" name="Rounded Rectangle 13"/>
          <p:cNvSpPr/>
          <p:nvPr/>
        </p:nvSpPr>
        <p:spPr>
          <a:xfrm>
            <a:off x="5120640" y="30632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Threat Trigger</a:t>
            </a:r>
          </a:p>
        </p:txBody>
      </p:sp>
      <p:sp>
        <p:nvSpPr>
          <p:cNvPr id="15" name="Rounded Rectangle 14"/>
          <p:cNvSpPr/>
          <p:nvPr/>
        </p:nvSpPr>
        <p:spPr>
          <a:xfrm>
            <a:off x="6743700" y="30632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Manual Alert</a:t>
            </a:r>
          </a:p>
        </p:txBody>
      </p:sp>
      <p:sp>
        <p:nvSpPr>
          <p:cNvPr id="16" name="Rounded Rectangle 15"/>
          <p:cNvSpPr/>
          <p:nvPr/>
        </p:nvSpPr>
        <p:spPr>
          <a:xfrm>
            <a:off x="8366760" y="30632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None</a:t>
            </a:r>
          </a:p>
        </p:txBody>
      </p:sp>
      <p:sp>
        <p:nvSpPr>
          <p:cNvPr id="17" name="Rounded Rectangle 16"/>
          <p:cNvSpPr/>
          <p:nvPr/>
        </p:nvSpPr>
        <p:spPr>
          <a:xfrm>
            <a:off x="9989820" y="30632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00C2A8"/>
                </a:solidFill>
                <a:latin typeface="Arial"/>
              </a:defRPr>
            </a:pPr>
            <a:r>
              <a:rPr dirty="0">
                <a:latin typeface="Times New Roman" panose="02020603050405020304" pitchFamily="18" charset="0"/>
              </a:rPr>
              <a:t>Predictive (Edge AI)</a:t>
            </a:r>
          </a:p>
        </p:txBody>
      </p:sp>
      <p:sp>
        <p:nvSpPr>
          <p:cNvPr id="18" name="Rounded Rectangle 17"/>
          <p:cNvSpPr/>
          <p:nvPr/>
        </p:nvSpPr>
        <p:spPr>
          <a:xfrm>
            <a:off x="5120640" y="37490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Coordination</a:t>
            </a:r>
          </a:p>
        </p:txBody>
      </p:sp>
      <p:sp>
        <p:nvSpPr>
          <p:cNvPr id="19" name="Rounded Rectangle 18"/>
          <p:cNvSpPr/>
          <p:nvPr/>
        </p:nvSpPr>
        <p:spPr>
          <a:xfrm>
            <a:off x="6743700" y="37490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Siloed Contacts</a:t>
            </a:r>
          </a:p>
        </p:txBody>
      </p:sp>
      <p:sp>
        <p:nvSpPr>
          <p:cNvPr id="20" name="Rounded Rectangle 19"/>
          <p:cNvSpPr/>
          <p:nvPr/>
        </p:nvSpPr>
        <p:spPr>
          <a:xfrm>
            <a:off x="8366760" y="37490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None</a:t>
            </a:r>
          </a:p>
        </p:txBody>
      </p:sp>
      <p:sp>
        <p:nvSpPr>
          <p:cNvPr id="21" name="Rounded Rectangle 20"/>
          <p:cNvSpPr/>
          <p:nvPr/>
        </p:nvSpPr>
        <p:spPr>
          <a:xfrm>
            <a:off x="9989820" y="37490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00C2A8"/>
                </a:solidFill>
                <a:latin typeface="Arial"/>
              </a:defRPr>
            </a:pPr>
            <a:r>
              <a:rPr dirty="0">
                <a:latin typeface="Times New Roman" panose="02020603050405020304" pitchFamily="18" charset="0"/>
              </a:rPr>
              <a:t>Dynamic Cohorts</a:t>
            </a:r>
          </a:p>
        </p:txBody>
      </p:sp>
      <p:sp>
        <p:nvSpPr>
          <p:cNvPr id="22" name="Rounded Rectangle 21"/>
          <p:cNvSpPr/>
          <p:nvPr/>
        </p:nvSpPr>
        <p:spPr>
          <a:xfrm>
            <a:off x="5120640" y="44348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Sanctuary Link</a:t>
            </a:r>
          </a:p>
        </p:txBody>
      </p:sp>
      <p:sp>
        <p:nvSpPr>
          <p:cNvPr id="23" name="Rounded Rectangle 22"/>
          <p:cNvSpPr/>
          <p:nvPr/>
        </p:nvSpPr>
        <p:spPr>
          <a:xfrm>
            <a:off x="6743700" y="44348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No Physical Link</a:t>
            </a:r>
          </a:p>
        </p:txBody>
      </p:sp>
      <p:sp>
        <p:nvSpPr>
          <p:cNvPr id="24" name="Rounded Rectangle 23"/>
          <p:cNvSpPr/>
          <p:nvPr/>
        </p:nvSpPr>
        <p:spPr>
          <a:xfrm>
            <a:off x="8366760" y="44348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No</a:t>
            </a:r>
          </a:p>
        </p:txBody>
      </p:sp>
      <p:sp>
        <p:nvSpPr>
          <p:cNvPr id="25" name="Rounded Rectangle 24"/>
          <p:cNvSpPr/>
          <p:nvPr/>
        </p:nvSpPr>
        <p:spPr>
          <a:xfrm>
            <a:off x="9989820" y="44348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00C2A8"/>
                </a:solidFill>
                <a:latin typeface="Arial"/>
              </a:defRPr>
            </a:pPr>
            <a:r>
              <a:rPr dirty="0">
                <a:latin typeface="Times New Roman" panose="02020603050405020304" pitchFamily="18" charset="0"/>
              </a:rPr>
              <a:t>Yes (BLE Beacons)</a:t>
            </a:r>
          </a:p>
        </p:txBody>
      </p:sp>
      <p:sp>
        <p:nvSpPr>
          <p:cNvPr id="26" name="Rounded Rectangle 25"/>
          <p:cNvSpPr/>
          <p:nvPr/>
        </p:nvSpPr>
        <p:spPr>
          <a:xfrm>
            <a:off x="5120640" y="51206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Security Focus</a:t>
            </a:r>
          </a:p>
        </p:txBody>
      </p:sp>
      <p:sp>
        <p:nvSpPr>
          <p:cNvPr id="27" name="Rounded Rectangle 26"/>
          <p:cNvSpPr/>
          <p:nvPr/>
        </p:nvSpPr>
        <p:spPr>
          <a:xfrm>
            <a:off x="6743700" y="51206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Post-Incident SOS</a:t>
            </a:r>
          </a:p>
        </p:txBody>
      </p:sp>
      <p:sp>
        <p:nvSpPr>
          <p:cNvPr id="28" name="Rounded Rectangle 27"/>
          <p:cNvSpPr/>
          <p:nvPr/>
        </p:nvSpPr>
        <p:spPr>
          <a:xfrm>
            <a:off x="8366760" y="51206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Navigation</a:t>
            </a:r>
          </a:p>
        </p:txBody>
      </p:sp>
      <p:sp>
        <p:nvSpPr>
          <p:cNvPr id="29" name="Rounded Rectangle 28"/>
          <p:cNvSpPr/>
          <p:nvPr/>
        </p:nvSpPr>
        <p:spPr>
          <a:xfrm>
            <a:off x="9989820" y="51206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00C2A8"/>
                </a:solidFill>
                <a:latin typeface="Arial"/>
              </a:defRPr>
            </a:pPr>
            <a:r>
              <a:rPr dirty="0">
                <a:latin typeface="Times New Roman" panose="02020603050405020304" pitchFamily="18" charset="0"/>
              </a:rPr>
              <a:t>Pre-emptive Shield</a:t>
            </a:r>
          </a:p>
        </p:txBody>
      </p:sp>
      <p:sp>
        <p:nvSpPr>
          <p:cNvPr id="30" name="Rounded Rectangle 29"/>
          <p:cNvSpPr/>
          <p:nvPr/>
        </p:nvSpPr>
        <p:spPr>
          <a:xfrm>
            <a:off x="5120640" y="58064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False Alarms</a:t>
            </a:r>
          </a:p>
        </p:txBody>
      </p:sp>
      <p:sp>
        <p:nvSpPr>
          <p:cNvPr id="31" name="Rounded Rectangle 30"/>
          <p:cNvSpPr/>
          <p:nvPr/>
        </p:nvSpPr>
        <p:spPr>
          <a:xfrm>
            <a:off x="6743700" y="58064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High (98% pocket dials)</a:t>
            </a:r>
          </a:p>
        </p:txBody>
      </p:sp>
      <p:sp>
        <p:nvSpPr>
          <p:cNvPr id="32" name="Rounded Rectangle 31"/>
          <p:cNvSpPr/>
          <p:nvPr/>
        </p:nvSpPr>
        <p:spPr>
          <a:xfrm>
            <a:off x="8366760" y="58064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0F172A"/>
                </a:solidFill>
                <a:latin typeface="Arial"/>
              </a:defRPr>
            </a:pPr>
            <a:r>
              <a:rPr dirty="0">
                <a:latin typeface="Times New Roman" panose="02020603050405020304" pitchFamily="18" charset="0"/>
              </a:rPr>
              <a:t>N/A</a:t>
            </a:r>
          </a:p>
        </p:txBody>
      </p:sp>
      <p:sp>
        <p:nvSpPr>
          <p:cNvPr id="33" name="Rounded Rectangle 32"/>
          <p:cNvSpPr/>
          <p:nvPr/>
        </p:nvSpPr>
        <p:spPr>
          <a:xfrm>
            <a:off x="9989820" y="5806440"/>
            <a:ext cx="15773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00C2A8"/>
                </a:solidFill>
                <a:latin typeface="Arial"/>
              </a:defRPr>
            </a:pPr>
            <a:r>
              <a:rPr dirty="0">
                <a:latin typeface="Times New Roman" panose="02020603050405020304" pitchFamily="18" charset="0"/>
              </a:rPr>
              <a:t>Extremely Low</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46221"/>
          </a:xfrm>
          <a:prstGeom prst="rect">
            <a:avLst/>
          </a:prstGeom>
          <a:noFill/>
        </p:spPr>
        <p:txBody>
          <a:bodyPr wrap="square">
            <a:spAutoFit/>
          </a:bodyPr>
          <a:lstStyle/>
          <a:p>
            <a:pPr>
              <a:defRPr sz="1000" b="1">
                <a:solidFill>
                  <a:srgbClr val="00C2A8"/>
                </a:solidFill>
                <a:latin typeface="Arial"/>
              </a:defRPr>
            </a:pPr>
            <a:r>
              <a:rPr dirty="0">
                <a:latin typeface="Times New Roman" panose="02020603050405020304" pitchFamily="18" charset="0"/>
              </a:rPr>
              <a:t>SOLUTION OVERVIEW</a:t>
            </a:r>
          </a:p>
        </p:txBody>
      </p:sp>
      <p:sp>
        <p:nvSpPr>
          <p:cNvPr id="3" name="TextBox 2"/>
          <p:cNvSpPr txBox="1"/>
          <p:nvPr/>
        </p:nvSpPr>
        <p:spPr>
          <a:xfrm>
            <a:off x="548640" y="548640"/>
            <a:ext cx="10972800" cy="461665"/>
          </a:xfrm>
          <a:prstGeom prst="rect">
            <a:avLst/>
          </a:prstGeom>
          <a:noFill/>
        </p:spPr>
        <p:txBody>
          <a:bodyPr wrap="square">
            <a:spAutoFit/>
          </a:bodyPr>
          <a:lstStyle/>
          <a:p>
            <a:pPr>
              <a:defRPr sz="2400" b="1">
                <a:solidFill>
                  <a:srgbClr val="0F172A"/>
                </a:solidFill>
                <a:latin typeface="Arial"/>
              </a:defRPr>
            </a:pPr>
            <a:r>
              <a:rPr dirty="0" err="1">
                <a:latin typeface="Times New Roman" panose="02020603050405020304" pitchFamily="18" charset="0"/>
              </a:rPr>
              <a:t>AuraPath</a:t>
            </a:r>
            <a:r>
              <a:rPr dirty="0">
                <a:latin typeface="Times New Roman" panose="02020603050405020304" pitchFamily="18" charset="0"/>
              </a:rPr>
              <a:t>: The Integrated Commuting Intelligence Platform</a:t>
            </a:r>
          </a:p>
        </p:txBody>
      </p:sp>
      <p:sp>
        <p:nvSpPr>
          <p:cNvPr id="4" name="Rectangle 3"/>
          <p:cNvSpPr/>
          <p:nvPr/>
        </p:nvSpPr>
        <p:spPr>
          <a:xfrm>
            <a:off x="548640" y="1280160"/>
            <a:ext cx="11094415" cy="1828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5" name="Rounded Rectangle 4"/>
          <p:cNvSpPr/>
          <p:nvPr/>
        </p:nvSpPr>
        <p:spPr>
          <a:xfrm>
            <a:off x="548640" y="1645920"/>
            <a:ext cx="3474720" cy="1463040"/>
          </a:xfrm>
          <a:prstGeom prst="roundRect">
            <a:avLst/>
          </a:prstGeom>
          <a:solidFill>
            <a:srgbClr val="FFFFFF"/>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6" name="TextBox 5"/>
          <p:cNvSpPr txBox="1"/>
          <p:nvPr/>
        </p:nvSpPr>
        <p:spPr>
          <a:xfrm>
            <a:off x="685800" y="1737360"/>
            <a:ext cx="3200400" cy="864339"/>
          </a:xfrm>
          <a:prstGeom prst="rect">
            <a:avLst/>
          </a:prstGeom>
          <a:noFill/>
        </p:spPr>
        <p:txBody>
          <a:bodyPr wrap="square" lIns="0" tIns="0" rIns="0" bIns="0">
            <a:spAutoFit/>
          </a:bodyPr>
          <a:lstStyle/>
          <a:p>
            <a:pPr algn="l">
              <a:spcAft>
                <a:spcPts val="500"/>
              </a:spcAft>
              <a:defRPr sz="1300" b="1">
                <a:solidFill>
                  <a:srgbClr val="6C63FF"/>
                </a:solidFill>
                <a:latin typeface="Arial"/>
              </a:defRPr>
            </a:pPr>
            <a:r>
              <a:rPr sz="1300" dirty="0">
                <a:latin typeface="Times New Roman" panose="02020603050405020304" pitchFamily="18" charset="0"/>
              </a:rPr>
              <a:t>1. SAFE CORRIDOR ENGINE</a:t>
            </a:r>
          </a:p>
          <a:p>
            <a:pPr algn="l">
              <a:spcAft>
                <a:spcPts val="800"/>
              </a:spcAft>
              <a:defRPr sz="1000" b="0">
                <a:solidFill>
                  <a:srgbClr val="64748B"/>
                </a:solidFill>
                <a:latin typeface="Arial"/>
              </a:defRPr>
            </a:pPr>
            <a:r>
              <a:rPr sz="1300" dirty="0">
                <a:latin typeface="Times New Roman" panose="02020603050405020304" pitchFamily="18" charset="0"/>
              </a:rPr>
              <a:t>Custom A* routing weighted by the Urban Vitality Index (UVI) to steer commuters along active, well-lit spaces.</a:t>
            </a:r>
          </a:p>
        </p:txBody>
      </p:sp>
      <p:sp>
        <p:nvSpPr>
          <p:cNvPr id="7" name="Rounded Rectangle 6"/>
          <p:cNvSpPr/>
          <p:nvPr/>
        </p:nvSpPr>
        <p:spPr>
          <a:xfrm>
            <a:off x="4352544" y="1645920"/>
            <a:ext cx="3474720" cy="1463040"/>
          </a:xfrm>
          <a:prstGeom prst="roundRect">
            <a:avLst/>
          </a:prstGeom>
          <a:solidFill>
            <a:srgbClr val="FFFFFF"/>
          </a:solidFill>
          <a:ln w="19050">
            <a:solidFill>
              <a:srgbClr val="00C2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8" name="TextBox 7"/>
          <p:cNvSpPr txBox="1"/>
          <p:nvPr/>
        </p:nvSpPr>
        <p:spPr>
          <a:xfrm>
            <a:off x="4489704" y="1737360"/>
            <a:ext cx="3200400" cy="864339"/>
          </a:xfrm>
          <a:prstGeom prst="rect">
            <a:avLst/>
          </a:prstGeom>
          <a:noFill/>
        </p:spPr>
        <p:txBody>
          <a:bodyPr wrap="square" lIns="0" tIns="0" rIns="0" bIns="0">
            <a:spAutoFit/>
          </a:bodyPr>
          <a:lstStyle/>
          <a:p>
            <a:pPr algn="l">
              <a:spcAft>
                <a:spcPts val="500"/>
              </a:spcAft>
              <a:defRPr sz="1300" b="1">
                <a:solidFill>
                  <a:srgbClr val="00C2A8"/>
                </a:solidFill>
                <a:latin typeface="Arial"/>
              </a:defRPr>
            </a:pPr>
            <a:r>
              <a:rPr sz="1300" dirty="0">
                <a:latin typeface="Times New Roman" panose="02020603050405020304" pitchFamily="18" charset="0"/>
              </a:rPr>
              <a:t>2. COMMUTEDNA™ BIOMETRICS</a:t>
            </a:r>
          </a:p>
          <a:p>
            <a:pPr algn="l">
              <a:spcAft>
                <a:spcPts val="800"/>
              </a:spcAft>
              <a:defRPr sz="1000" b="0">
                <a:solidFill>
                  <a:srgbClr val="64748B"/>
                </a:solidFill>
                <a:latin typeface="Arial"/>
              </a:defRPr>
            </a:pPr>
            <a:r>
              <a:rPr sz="1300" dirty="0">
                <a:latin typeface="Times New Roman" panose="02020603050405020304" pitchFamily="18" charset="0"/>
              </a:rPr>
              <a:t>Creates a behavioral fingerprint of commute routes, triggers automated security loops on unexpected detours.</a:t>
            </a:r>
          </a:p>
        </p:txBody>
      </p:sp>
      <p:sp>
        <p:nvSpPr>
          <p:cNvPr id="9" name="Rounded Rectangle 8"/>
          <p:cNvSpPr/>
          <p:nvPr/>
        </p:nvSpPr>
        <p:spPr>
          <a:xfrm>
            <a:off x="8165592" y="1645920"/>
            <a:ext cx="347472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10" name="TextBox 9"/>
          <p:cNvSpPr txBox="1"/>
          <p:nvPr/>
        </p:nvSpPr>
        <p:spPr>
          <a:xfrm>
            <a:off x="8302752" y="1737360"/>
            <a:ext cx="3200400" cy="864339"/>
          </a:xfrm>
          <a:prstGeom prst="rect">
            <a:avLst/>
          </a:prstGeom>
          <a:noFill/>
        </p:spPr>
        <p:txBody>
          <a:bodyPr wrap="square" lIns="0" tIns="0" rIns="0" bIns="0">
            <a:spAutoFit/>
          </a:bodyPr>
          <a:lstStyle/>
          <a:p>
            <a:pPr algn="l">
              <a:spcAft>
                <a:spcPts val="500"/>
              </a:spcAft>
              <a:defRPr sz="1300" b="1">
                <a:solidFill>
                  <a:srgbClr val="0F172A"/>
                </a:solidFill>
                <a:latin typeface="Arial"/>
              </a:defRPr>
            </a:pPr>
            <a:r>
              <a:rPr sz="1300" dirty="0">
                <a:latin typeface="Times New Roman" panose="02020603050405020304" pitchFamily="18" charset="0"/>
              </a:rPr>
              <a:t>3. TRUSTSCORE™ MATRIX</a:t>
            </a:r>
          </a:p>
          <a:p>
            <a:pPr algn="l">
              <a:spcAft>
                <a:spcPts val="800"/>
              </a:spcAft>
              <a:defRPr sz="1000" b="0">
                <a:solidFill>
                  <a:srgbClr val="64748B"/>
                </a:solidFill>
                <a:latin typeface="Arial"/>
              </a:defRPr>
            </a:pPr>
            <a:r>
              <a:rPr sz="1300" dirty="0">
                <a:latin typeface="Times New Roman" panose="02020603050405020304" pitchFamily="18" charset="0"/>
              </a:rPr>
              <a:t>Aggregates real-time ratings for area lighting, driver route compliance, and storefront vibrancy.</a:t>
            </a:r>
          </a:p>
        </p:txBody>
      </p:sp>
      <p:sp>
        <p:nvSpPr>
          <p:cNvPr id="11" name="Rounded Rectangle 10"/>
          <p:cNvSpPr/>
          <p:nvPr/>
        </p:nvSpPr>
        <p:spPr>
          <a:xfrm>
            <a:off x="548640" y="3291840"/>
            <a:ext cx="347472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12" name="TextBox 11"/>
          <p:cNvSpPr txBox="1"/>
          <p:nvPr/>
        </p:nvSpPr>
        <p:spPr>
          <a:xfrm>
            <a:off x="685800" y="3383280"/>
            <a:ext cx="3200400" cy="864339"/>
          </a:xfrm>
          <a:prstGeom prst="rect">
            <a:avLst/>
          </a:prstGeom>
          <a:noFill/>
        </p:spPr>
        <p:txBody>
          <a:bodyPr wrap="square" lIns="0" tIns="0" rIns="0" bIns="0">
            <a:spAutoFit/>
          </a:bodyPr>
          <a:lstStyle/>
          <a:p>
            <a:pPr algn="l">
              <a:spcAft>
                <a:spcPts val="500"/>
              </a:spcAft>
              <a:defRPr sz="1300" b="1">
                <a:solidFill>
                  <a:srgbClr val="0F172A"/>
                </a:solidFill>
                <a:latin typeface="Arial"/>
              </a:defRPr>
            </a:pPr>
            <a:r>
              <a:rPr sz="1300" dirty="0">
                <a:latin typeface="Times New Roman" panose="02020603050405020304" pitchFamily="18" charset="0"/>
              </a:rPr>
              <a:t>4. DYNAMIC COHORTS</a:t>
            </a:r>
          </a:p>
          <a:p>
            <a:pPr algn="l">
              <a:spcAft>
                <a:spcPts val="800"/>
              </a:spcAft>
              <a:defRPr sz="1000" b="0">
                <a:solidFill>
                  <a:srgbClr val="64748B"/>
                </a:solidFill>
                <a:latin typeface="Arial"/>
              </a:defRPr>
            </a:pPr>
            <a:r>
              <a:rPr sz="1300" dirty="0">
                <a:latin typeface="Times New Roman" panose="02020603050405020304" pitchFamily="18" charset="0"/>
              </a:rPr>
              <a:t>WebSocket-coordinated peer networks matching verified women walking along similar final-mile routes.</a:t>
            </a:r>
          </a:p>
        </p:txBody>
      </p:sp>
      <p:sp>
        <p:nvSpPr>
          <p:cNvPr id="13" name="Rounded Rectangle 12"/>
          <p:cNvSpPr/>
          <p:nvPr/>
        </p:nvSpPr>
        <p:spPr>
          <a:xfrm>
            <a:off x="4352544" y="3291840"/>
            <a:ext cx="3474720" cy="1463040"/>
          </a:xfrm>
          <a:prstGeom prst="roundRect">
            <a:avLst/>
          </a:prstGeom>
          <a:solidFill>
            <a:srgbClr val="FFFFFF"/>
          </a:solidFill>
          <a:ln w="19050">
            <a:solidFill>
              <a:srgbClr val="00C2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14" name="TextBox 13"/>
          <p:cNvSpPr txBox="1"/>
          <p:nvPr/>
        </p:nvSpPr>
        <p:spPr>
          <a:xfrm>
            <a:off x="4489704" y="3383280"/>
            <a:ext cx="3200400" cy="864339"/>
          </a:xfrm>
          <a:prstGeom prst="rect">
            <a:avLst/>
          </a:prstGeom>
          <a:noFill/>
        </p:spPr>
        <p:txBody>
          <a:bodyPr wrap="square" lIns="0" tIns="0" rIns="0" bIns="0">
            <a:spAutoFit/>
          </a:bodyPr>
          <a:lstStyle/>
          <a:p>
            <a:pPr algn="l">
              <a:spcAft>
                <a:spcPts val="500"/>
              </a:spcAft>
              <a:defRPr sz="1300" b="1">
                <a:solidFill>
                  <a:srgbClr val="00C2A8"/>
                </a:solidFill>
                <a:latin typeface="Arial"/>
              </a:defRPr>
            </a:pPr>
            <a:r>
              <a:rPr sz="1300" dirty="0">
                <a:latin typeface="Times New Roman" panose="02020603050405020304" pitchFamily="18" charset="0"/>
              </a:rPr>
              <a:t>5. SANCTUARY MESH Network</a:t>
            </a:r>
          </a:p>
          <a:p>
            <a:pPr algn="l">
              <a:spcAft>
                <a:spcPts val="800"/>
              </a:spcAft>
              <a:defRPr sz="1000" b="0">
                <a:solidFill>
                  <a:srgbClr val="64748B"/>
                </a:solidFill>
                <a:latin typeface="Arial"/>
              </a:defRPr>
            </a:pPr>
            <a:r>
              <a:rPr sz="1300" dirty="0">
                <a:latin typeface="Times New Roman" panose="02020603050405020304" pitchFamily="18" charset="0"/>
              </a:rPr>
              <a:t>Local </a:t>
            </a:r>
            <a:r>
              <a:rPr sz="1300" dirty="0" err="1">
                <a:latin typeface="Times New Roman" panose="02020603050405020304" pitchFamily="18" charset="0"/>
              </a:rPr>
              <a:t>kiranas</a:t>
            </a:r>
            <a:r>
              <a:rPr sz="1300" dirty="0">
                <a:latin typeface="Times New Roman" panose="02020603050405020304" pitchFamily="18" charset="0"/>
              </a:rPr>
              <a:t> and medical storefronts equipped with BLE beacons to act as physical safe hubs during incidents.</a:t>
            </a:r>
          </a:p>
        </p:txBody>
      </p:sp>
      <p:sp>
        <p:nvSpPr>
          <p:cNvPr id="15" name="Rounded Rectangle 14"/>
          <p:cNvSpPr/>
          <p:nvPr/>
        </p:nvSpPr>
        <p:spPr>
          <a:xfrm>
            <a:off x="8165592" y="3291840"/>
            <a:ext cx="3474720" cy="1463040"/>
          </a:xfrm>
          <a:prstGeom prst="roundRect">
            <a:avLst/>
          </a:prstGeom>
          <a:solidFill>
            <a:srgbClr val="FFFFFF"/>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16" name="TextBox 15"/>
          <p:cNvSpPr txBox="1"/>
          <p:nvPr/>
        </p:nvSpPr>
        <p:spPr>
          <a:xfrm>
            <a:off x="8302752" y="3383280"/>
            <a:ext cx="3200400" cy="864339"/>
          </a:xfrm>
          <a:prstGeom prst="rect">
            <a:avLst/>
          </a:prstGeom>
          <a:noFill/>
        </p:spPr>
        <p:txBody>
          <a:bodyPr wrap="square" lIns="0" tIns="0" rIns="0" bIns="0">
            <a:spAutoFit/>
          </a:bodyPr>
          <a:lstStyle/>
          <a:p>
            <a:pPr algn="l">
              <a:spcAft>
                <a:spcPts val="500"/>
              </a:spcAft>
              <a:defRPr sz="1300" b="1">
                <a:solidFill>
                  <a:srgbClr val="6C63FF"/>
                </a:solidFill>
                <a:latin typeface="Arial"/>
              </a:defRPr>
            </a:pPr>
            <a:r>
              <a:rPr sz="1300" dirty="0">
                <a:latin typeface="Times New Roman" panose="02020603050405020304" pitchFamily="18" charset="0"/>
              </a:rPr>
              <a:t>6. SAFETY DIGITAL TWIN</a:t>
            </a:r>
          </a:p>
          <a:p>
            <a:pPr algn="l">
              <a:spcAft>
                <a:spcPts val="800"/>
              </a:spcAft>
              <a:defRPr sz="1000" b="0">
                <a:solidFill>
                  <a:srgbClr val="64748B"/>
                </a:solidFill>
                <a:latin typeface="Arial"/>
              </a:defRPr>
            </a:pPr>
            <a:r>
              <a:rPr sz="1300" dirty="0">
                <a:latin typeface="Times New Roman" panose="02020603050405020304" pitchFamily="18" charset="0"/>
              </a:rPr>
              <a:t>Live city dashboard mapping unmonitored zones and forecasting risk spots to optimize patrol deployment.</a:t>
            </a:r>
          </a:p>
        </p:txBody>
      </p:sp>
      <p:sp>
        <p:nvSpPr>
          <p:cNvPr id="17" name="Rounded Rectangle 16"/>
          <p:cNvSpPr/>
          <p:nvPr/>
        </p:nvSpPr>
        <p:spPr>
          <a:xfrm>
            <a:off x="548640" y="4937760"/>
            <a:ext cx="11094415" cy="1280160"/>
          </a:xfrm>
          <a:prstGeom prst="roundRect">
            <a:avLst/>
          </a:prstGeom>
          <a:solidFill>
            <a:srgbClr val="FFFFFF"/>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18" name="TextBox 17"/>
          <p:cNvSpPr txBox="1"/>
          <p:nvPr/>
        </p:nvSpPr>
        <p:spPr>
          <a:xfrm>
            <a:off x="731520" y="5029200"/>
            <a:ext cx="10789920" cy="636072"/>
          </a:xfrm>
          <a:prstGeom prst="rect">
            <a:avLst/>
          </a:prstGeom>
          <a:noFill/>
        </p:spPr>
        <p:txBody>
          <a:bodyPr wrap="square" lIns="0" tIns="0" rIns="0" bIns="0">
            <a:spAutoFit/>
          </a:bodyPr>
          <a:lstStyle/>
          <a:p>
            <a:pPr algn="l">
              <a:spcAft>
                <a:spcPts val="500"/>
              </a:spcAft>
              <a:defRPr sz="1100" b="1">
                <a:solidFill>
                  <a:srgbClr val="6C63FF"/>
                </a:solidFill>
                <a:latin typeface="Arial"/>
              </a:defRPr>
            </a:pPr>
            <a:r>
              <a:rPr dirty="0">
                <a:latin typeface="Times New Roman" panose="02020603050405020304" pitchFamily="18" charset="0"/>
              </a:rPr>
              <a:t>MATHEMATICAL DEFINITIONS</a:t>
            </a:r>
          </a:p>
          <a:p>
            <a:pPr algn="l">
              <a:spcAft>
                <a:spcPts val="500"/>
              </a:spcAft>
              <a:defRPr sz="1100" b="1">
                <a:solidFill>
                  <a:srgbClr val="0F172A"/>
                </a:solidFill>
                <a:latin typeface="Arial"/>
              </a:defRPr>
            </a:pPr>
            <a:r>
              <a:rPr dirty="0">
                <a:latin typeface="Times New Roman" panose="02020603050405020304" pitchFamily="18" charset="0"/>
              </a:rPr>
              <a:t>Urban Vitality Index (UVI) = 40% [Lighting Score] + 25% [Crowd Activity] + 20% [Storefront Activity] + 10% [Transit Presence] + 5% [Historical Reports]</a:t>
            </a:r>
          </a:p>
          <a:p>
            <a:pPr algn="l">
              <a:spcAft>
                <a:spcPts val="800"/>
              </a:spcAft>
              <a:defRPr sz="1100" b="1">
                <a:solidFill>
                  <a:srgbClr val="0F172A"/>
                </a:solidFill>
                <a:latin typeface="Arial"/>
              </a:defRPr>
            </a:pPr>
            <a:r>
              <a:rPr dirty="0" err="1">
                <a:latin typeface="Times New Roman" panose="02020603050405020304" pitchFamily="18" charset="0"/>
              </a:rPr>
              <a:t>TrustScore</a:t>
            </a:r>
            <a:r>
              <a:rPr dirty="0">
                <a:latin typeface="Times New Roman" panose="02020603050405020304" pitchFamily="18" charset="0"/>
              </a:rPr>
              <a:t> = w1 * [Driver Reliability] + w2 * [Route Compliance] + w3 * [Area Safety Rating] + w4 * [Time of Day] + w5 * [Community Feedback]</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F77C500-F622-8F99-0133-EC9DC6D99EF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l="1701" b="5598"/>
          <a:stretch>
            <a:fillRect/>
          </a:stretch>
        </p:blipFill>
        <p:spPr>
          <a:xfrm>
            <a:off x="1794351" y="1331117"/>
            <a:ext cx="10391659" cy="4928281"/>
          </a:xfrm>
          <a:prstGeom prst="rect">
            <a:avLst/>
          </a:prstGeom>
        </p:spPr>
      </p:pic>
      <p:pic>
        <p:nvPicPr>
          <p:cNvPr id="9" name="Picture 8">
            <a:extLst>
              <a:ext uri="{FF2B5EF4-FFF2-40B4-BE49-F238E27FC236}">
                <a16:creationId xmlns:a16="http://schemas.microsoft.com/office/drawing/2014/main" id="{3F3B059D-E4CF-A9C7-9F78-44E216102000}"/>
              </a:ext>
            </a:extLst>
          </p:cNvPr>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Effect>
                      <a14:brightnessContrast bright="20000" contrast="-40000"/>
                    </a14:imgEffect>
                  </a14:imgLayer>
                </a14:imgProps>
              </a:ext>
            </a:extLst>
          </a:blip>
          <a:srcRect t="18233" b="4086"/>
          <a:stretch>
            <a:fillRect/>
          </a:stretch>
        </p:blipFill>
        <p:spPr>
          <a:xfrm>
            <a:off x="524464" y="1725104"/>
            <a:ext cx="1100025" cy="4166649"/>
          </a:xfrm>
          <a:prstGeom prst="rect">
            <a:avLst/>
          </a:prstGeom>
        </p:spPr>
      </p:pic>
      <p:sp>
        <p:nvSpPr>
          <p:cNvPr id="3" name="TextBox 2">
            <a:extLst>
              <a:ext uri="{FF2B5EF4-FFF2-40B4-BE49-F238E27FC236}">
                <a16:creationId xmlns:a16="http://schemas.microsoft.com/office/drawing/2014/main" id="{7F533804-7701-9426-0AE0-6EEBEBE1DACF}"/>
              </a:ext>
            </a:extLst>
          </p:cNvPr>
          <p:cNvSpPr txBox="1"/>
          <p:nvPr/>
        </p:nvSpPr>
        <p:spPr>
          <a:xfrm>
            <a:off x="568545" y="302419"/>
            <a:ext cx="6094428" cy="292388"/>
          </a:xfrm>
          <a:prstGeom prst="rect">
            <a:avLst/>
          </a:prstGeom>
          <a:noFill/>
        </p:spPr>
        <p:txBody>
          <a:bodyPr wrap="square">
            <a:spAutoFit/>
          </a:bodyPr>
          <a:lstStyle/>
          <a:p>
            <a:pPr>
              <a:defRPr sz="1000" b="1">
                <a:solidFill>
                  <a:srgbClr val="10B981"/>
                </a:solidFill>
                <a:latin typeface="Arial"/>
              </a:defRPr>
            </a:pPr>
            <a:r>
              <a:rPr lang="en-IN" sz="1300" dirty="0">
                <a:latin typeface="Times New Roman" panose="02020603050405020304" pitchFamily="18" charset="0"/>
                <a:cs typeface="Times New Roman" panose="02020603050405020304" pitchFamily="18" charset="0"/>
              </a:rPr>
              <a:t>WORKFLOW &amp; JOURNEY</a:t>
            </a:r>
          </a:p>
        </p:txBody>
      </p:sp>
      <p:sp>
        <p:nvSpPr>
          <p:cNvPr id="4" name="TextBox 3">
            <a:extLst>
              <a:ext uri="{FF2B5EF4-FFF2-40B4-BE49-F238E27FC236}">
                <a16:creationId xmlns:a16="http://schemas.microsoft.com/office/drawing/2014/main" id="{D5207105-5823-BF0C-12C5-7097F8065540}"/>
              </a:ext>
            </a:extLst>
          </p:cNvPr>
          <p:cNvSpPr txBox="1"/>
          <p:nvPr/>
        </p:nvSpPr>
        <p:spPr>
          <a:xfrm>
            <a:off x="524464" y="596692"/>
            <a:ext cx="10972800" cy="461665"/>
          </a:xfrm>
          <a:prstGeom prst="rect">
            <a:avLst/>
          </a:prstGeom>
          <a:noFill/>
        </p:spPr>
        <p:txBody>
          <a:bodyPr wrap="square">
            <a:spAutoFit/>
          </a:bodyPr>
          <a:lstStyle/>
          <a:p>
            <a:pPr>
              <a:defRPr sz="2400" b="1">
                <a:solidFill>
                  <a:srgbClr val="F9FAFB"/>
                </a:solidFill>
                <a:latin typeface="Arial"/>
              </a:defRPr>
            </a:pPr>
            <a:r>
              <a:rPr dirty="0">
                <a:solidFill>
                  <a:schemeClr val="bg2">
                    <a:lumMod val="10000"/>
                  </a:schemeClr>
                </a:solidFill>
                <a:latin typeface="Times New Roman" panose="02020603050405020304" pitchFamily="18" charset="0"/>
                <a:cs typeface="Times New Roman" panose="02020603050405020304" pitchFamily="18" charset="0"/>
              </a:rPr>
              <a:t>The Preventative Journey Loop: End-to-End System Workflow</a:t>
            </a:r>
          </a:p>
        </p:txBody>
      </p:sp>
    </p:spTree>
    <p:extLst>
      <p:ext uri="{BB962C8B-B14F-4D97-AF65-F5344CB8AC3E}">
        <p14:creationId xmlns:p14="http://schemas.microsoft.com/office/powerpoint/2010/main" val="3417883365"/>
      </p:ext>
    </p:extLst>
  </p:cSld>
  <p:clrMapOvr>
    <a:masterClrMapping/>
  </p:clrMapOvr>
  <p:transition spd="slow" advClick="0">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92388"/>
          </a:xfrm>
          <a:prstGeom prst="rect">
            <a:avLst/>
          </a:prstGeom>
          <a:noFill/>
        </p:spPr>
        <p:txBody>
          <a:bodyPr wrap="square">
            <a:spAutoFit/>
          </a:bodyPr>
          <a:lstStyle/>
          <a:p>
            <a:pPr>
              <a:defRPr sz="1000" b="1">
                <a:solidFill>
                  <a:srgbClr val="00C2A8"/>
                </a:solidFill>
                <a:latin typeface="Arial"/>
              </a:defRPr>
            </a:pPr>
            <a:r>
              <a:rPr sz="1300" dirty="0">
                <a:latin typeface="Times New Roman" panose="02020603050405020304" pitchFamily="18" charset="0"/>
              </a:rPr>
              <a:t>TECHNICAL</a:t>
            </a:r>
            <a:r>
              <a:rPr lang="en-IN" sz="1300" dirty="0">
                <a:latin typeface="Times New Roman" panose="02020603050405020304" pitchFamily="18" charset="0"/>
              </a:rPr>
              <a:t> OVERVIEW</a:t>
            </a:r>
            <a:endParaRPr sz="1300" dirty="0">
              <a:latin typeface="Times New Roman" panose="02020603050405020304" pitchFamily="18" charset="0"/>
            </a:endParaRPr>
          </a:p>
        </p:txBody>
      </p:sp>
      <p:sp>
        <p:nvSpPr>
          <p:cNvPr id="3" name="TextBox 2"/>
          <p:cNvSpPr txBox="1"/>
          <p:nvPr/>
        </p:nvSpPr>
        <p:spPr>
          <a:xfrm>
            <a:off x="548640" y="601052"/>
            <a:ext cx="10972800" cy="461665"/>
          </a:xfrm>
          <a:prstGeom prst="rect">
            <a:avLst/>
          </a:prstGeom>
          <a:noFill/>
        </p:spPr>
        <p:txBody>
          <a:bodyPr wrap="square">
            <a:spAutoFit/>
          </a:bodyPr>
          <a:lstStyle/>
          <a:p>
            <a:pPr>
              <a:defRPr sz="2400" b="1">
                <a:solidFill>
                  <a:srgbClr val="0F172A"/>
                </a:solidFill>
                <a:latin typeface="Arial"/>
              </a:defRPr>
            </a:pPr>
            <a:r>
              <a:rPr dirty="0">
                <a:latin typeface="Times New Roman" panose="02020603050405020304" pitchFamily="18" charset="0"/>
              </a:rPr>
              <a:t>The </a:t>
            </a:r>
            <a:r>
              <a:rPr dirty="0" err="1">
                <a:latin typeface="Times New Roman" panose="02020603050405020304" pitchFamily="18" charset="0"/>
              </a:rPr>
              <a:t>AuraPath</a:t>
            </a:r>
            <a:r>
              <a:rPr dirty="0">
                <a:latin typeface="Times New Roman" panose="02020603050405020304" pitchFamily="18" charset="0"/>
              </a:rPr>
              <a:t> Architecture: Privacy-First Enterprise Spatial Stack</a:t>
            </a:r>
          </a:p>
        </p:txBody>
      </p:sp>
      <p:sp>
        <p:nvSpPr>
          <p:cNvPr id="4" name="Rectangle 3"/>
          <p:cNvSpPr/>
          <p:nvPr/>
        </p:nvSpPr>
        <p:spPr>
          <a:xfrm>
            <a:off x="548640" y="1280160"/>
            <a:ext cx="11094415" cy="1828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5" name="Rounded Rectangle 4"/>
          <p:cNvSpPr/>
          <p:nvPr/>
        </p:nvSpPr>
        <p:spPr>
          <a:xfrm>
            <a:off x="548640" y="1645920"/>
            <a:ext cx="5486400" cy="502920"/>
          </a:xfrm>
          <a:prstGeom prst="roundRect">
            <a:avLst/>
          </a:prstGeom>
          <a:solidFill>
            <a:srgbClr val="00C2A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Arial"/>
              </a:defRPr>
            </a:pPr>
            <a:r>
              <a:rPr sz="1000" dirty="0">
                <a:latin typeface="Times New Roman" panose="02020603050405020304" pitchFamily="18" charset="0"/>
              </a:rPr>
              <a:t>1. USER / CLIENT: React Native Client + Local TensorFlow Lite (Edge AI)</a:t>
            </a:r>
          </a:p>
        </p:txBody>
      </p:sp>
      <p:sp>
        <p:nvSpPr>
          <p:cNvPr id="6" name="Rounded Rectangle 5"/>
          <p:cNvSpPr/>
          <p:nvPr/>
        </p:nvSpPr>
        <p:spPr>
          <a:xfrm>
            <a:off x="548640" y="2240280"/>
            <a:ext cx="5486400" cy="50292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0F172A"/>
                </a:solidFill>
                <a:latin typeface="Arial"/>
              </a:defRPr>
            </a:pPr>
            <a:r>
              <a:rPr sz="1000" dirty="0">
                <a:latin typeface="Times New Roman" panose="02020603050405020304" pitchFamily="18" charset="0"/>
              </a:rPr>
              <a:t>2. API LAYER: Kong Gateway / Rate Limiting / JWT Auth Tokens</a:t>
            </a:r>
          </a:p>
        </p:txBody>
      </p:sp>
      <p:sp>
        <p:nvSpPr>
          <p:cNvPr id="7" name="Rounded Rectangle 6"/>
          <p:cNvSpPr/>
          <p:nvPr/>
        </p:nvSpPr>
        <p:spPr>
          <a:xfrm>
            <a:off x="548640" y="2834640"/>
            <a:ext cx="5486400" cy="502920"/>
          </a:xfrm>
          <a:prstGeom prst="round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Arial"/>
              </a:defRPr>
            </a:pPr>
            <a:r>
              <a:rPr sz="1000" dirty="0">
                <a:latin typeface="Times New Roman" panose="02020603050405020304" pitchFamily="18" charset="0"/>
              </a:rPr>
              <a:t>3. BACKEND SERVICES: </a:t>
            </a:r>
            <a:r>
              <a:rPr sz="1000" dirty="0" err="1">
                <a:latin typeface="Times New Roman" panose="02020603050405020304" pitchFamily="18" charset="0"/>
              </a:rPr>
              <a:t>FastAPI</a:t>
            </a:r>
            <a:r>
              <a:rPr sz="1000" dirty="0">
                <a:latin typeface="Times New Roman" panose="02020603050405020304" pitchFamily="18" charset="0"/>
              </a:rPr>
              <a:t> / Node.js Microservices (WebSocket Sync)</a:t>
            </a:r>
          </a:p>
        </p:txBody>
      </p:sp>
      <p:sp>
        <p:nvSpPr>
          <p:cNvPr id="8" name="Rounded Rectangle 7"/>
          <p:cNvSpPr/>
          <p:nvPr/>
        </p:nvSpPr>
        <p:spPr>
          <a:xfrm>
            <a:off x="548640" y="3429000"/>
            <a:ext cx="5486400" cy="50292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0F172A"/>
                </a:solidFill>
                <a:latin typeface="Arial"/>
              </a:defRPr>
            </a:pPr>
            <a:r>
              <a:rPr sz="1000" dirty="0">
                <a:latin typeface="Times New Roman" panose="02020603050405020304" pitchFamily="18" charset="0"/>
              </a:rPr>
              <a:t>4. AI ENGINE: </a:t>
            </a:r>
            <a:r>
              <a:rPr sz="1000" dirty="0" err="1">
                <a:latin typeface="Times New Roman" panose="02020603050405020304" pitchFamily="18" charset="0"/>
              </a:rPr>
              <a:t>CommuteDNA</a:t>
            </a:r>
            <a:r>
              <a:rPr sz="1000" dirty="0">
                <a:latin typeface="Times New Roman" panose="02020603050405020304" pitchFamily="18" charset="0"/>
              </a:rPr>
              <a:t> (Logs) + </a:t>
            </a:r>
            <a:r>
              <a:rPr sz="1000" dirty="0" err="1">
                <a:latin typeface="Times New Roman" panose="02020603050405020304" pitchFamily="18" charset="0"/>
              </a:rPr>
              <a:t>TrustScore</a:t>
            </a:r>
            <a:r>
              <a:rPr sz="1000" dirty="0">
                <a:latin typeface="Times New Roman" panose="02020603050405020304" pitchFamily="18" charset="0"/>
              </a:rPr>
              <a:t> (Spatial models) + UVI</a:t>
            </a:r>
          </a:p>
        </p:txBody>
      </p:sp>
      <p:sp>
        <p:nvSpPr>
          <p:cNvPr id="9" name="Rounded Rectangle 8"/>
          <p:cNvSpPr/>
          <p:nvPr/>
        </p:nvSpPr>
        <p:spPr>
          <a:xfrm>
            <a:off x="548640" y="4023360"/>
            <a:ext cx="5486400" cy="502920"/>
          </a:xfrm>
          <a:prstGeom prst="roundRect">
            <a:avLst/>
          </a:prstGeom>
          <a:solidFill>
            <a:srgbClr val="00C2A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Arial"/>
              </a:defRPr>
            </a:pPr>
            <a:r>
              <a:rPr sz="1000" dirty="0">
                <a:latin typeface="Times New Roman" panose="02020603050405020304" pitchFamily="18" charset="0"/>
              </a:rPr>
              <a:t>5. DATA STORAGE: PostgreSQL with </a:t>
            </a:r>
            <a:r>
              <a:rPr sz="1000" dirty="0" err="1">
                <a:latin typeface="Times New Roman" panose="02020603050405020304" pitchFamily="18" charset="0"/>
              </a:rPr>
              <a:t>PostGIS</a:t>
            </a:r>
            <a:r>
              <a:rPr sz="1000" dirty="0">
                <a:latin typeface="Times New Roman" panose="02020603050405020304" pitchFamily="18" charset="0"/>
              </a:rPr>
              <a:t> extension + Redis cache</a:t>
            </a:r>
          </a:p>
        </p:txBody>
      </p:sp>
      <p:sp>
        <p:nvSpPr>
          <p:cNvPr id="10" name="Rounded Rectangle 9"/>
          <p:cNvSpPr/>
          <p:nvPr/>
        </p:nvSpPr>
        <p:spPr>
          <a:xfrm>
            <a:off x="548640" y="4617720"/>
            <a:ext cx="5486400" cy="50292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0F172A"/>
                </a:solidFill>
                <a:latin typeface="Arial"/>
              </a:defRPr>
            </a:pPr>
            <a:r>
              <a:rPr sz="1000" dirty="0">
                <a:latin typeface="Times New Roman" panose="02020603050405020304" pitchFamily="18" charset="0"/>
              </a:rPr>
              <a:t>6. INTEGRATIONS: OpenStreetMap + Transit Feeds + Weather APIs</a:t>
            </a:r>
          </a:p>
        </p:txBody>
      </p:sp>
      <p:sp>
        <p:nvSpPr>
          <p:cNvPr id="11" name="Rounded Rectangle 10"/>
          <p:cNvSpPr/>
          <p:nvPr/>
        </p:nvSpPr>
        <p:spPr>
          <a:xfrm>
            <a:off x="548640" y="5212080"/>
            <a:ext cx="5486400" cy="502920"/>
          </a:xfrm>
          <a:prstGeom prst="round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Arial"/>
              </a:defRPr>
            </a:pPr>
            <a:r>
              <a:rPr sz="1000" dirty="0">
                <a:latin typeface="Times New Roman" panose="02020603050405020304" pitchFamily="18" charset="0"/>
              </a:rPr>
              <a:t>7. CLOUD &amp; SECURITY: AWS ECS / AWS IoT Core / TLS 1.3 / RBAC</a:t>
            </a:r>
          </a:p>
        </p:txBody>
      </p:sp>
      <p:sp>
        <p:nvSpPr>
          <p:cNvPr id="12" name="TextBox 11"/>
          <p:cNvSpPr txBox="1"/>
          <p:nvPr/>
        </p:nvSpPr>
        <p:spPr>
          <a:xfrm>
            <a:off x="6400800" y="1645920"/>
            <a:ext cx="5212080" cy="4001095"/>
          </a:xfrm>
          <a:prstGeom prst="rect">
            <a:avLst/>
          </a:prstGeom>
          <a:noFill/>
        </p:spPr>
        <p:txBody>
          <a:bodyPr wrap="square" lIns="0" tIns="0" rIns="0" bIns="0">
            <a:spAutoFit/>
          </a:bodyPr>
          <a:lstStyle/>
          <a:p>
            <a:pPr algn="l">
              <a:spcAft>
                <a:spcPts val="1500"/>
              </a:spcAft>
              <a:defRPr sz="1400" b="1">
                <a:solidFill>
                  <a:srgbClr val="00C2A8"/>
                </a:solidFill>
                <a:latin typeface="Arial"/>
              </a:defRPr>
            </a:pPr>
            <a:r>
              <a:rPr sz="1500" dirty="0">
                <a:latin typeface="Times New Roman" panose="02020603050405020304" pitchFamily="18" charset="0"/>
              </a:rPr>
              <a:t>SYSTEM CAPABILITIES &amp; ARCHITECTURE HIGHLIGHTS</a:t>
            </a:r>
          </a:p>
          <a:p>
            <a:pPr algn="l">
              <a:spcAft>
                <a:spcPts val="500"/>
              </a:spcAft>
              <a:defRPr sz="1200" b="1">
                <a:solidFill>
                  <a:srgbClr val="6C63FF"/>
                </a:solidFill>
                <a:latin typeface="Arial"/>
              </a:defRPr>
            </a:pPr>
            <a:r>
              <a:rPr sz="1500" dirty="0">
                <a:latin typeface="Times New Roman" panose="02020603050405020304" pitchFamily="18" charset="0"/>
              </a:rPr>
              <a:t>• Privacy-First Edge AI Processing:</a:t>
            </a:r>
          </a:p>
          <a:p>
            <a:pPr algn="l">
              <a:spcAft>
                <a:spcPts val="1500"/>
              </a:spcAft>
              <a:defRPr sz="1100" b="0">
                <a:solidFill>
                  <a:srgbClr val="0F172A"/>
                </a:solidFill>
                <a:latin typeface="Arial"/>
              </a:defRPr>
            </a:pPr>
            <a:r>
              <a:rPr sz="1500" dirty="0">
                <a:latin typeface="Times New Roman" panose="02020603050405020304" pitchFamily="18" charset="0"/>
              </a:rPr>
              <a:t>Threat detection models run locally on the client phone (TensorFlow Lite) monitoring audio metadata for distress cries. Raw audio never leaves the device.</a:t>
            </a:r>
          </a:p>
          <a:p>
            <a:pPr algn="l">
              <a:spcAft>
                <a:spcPts val="500"/>
              </a:spcAft>
              <a:defRPr sz="1200" b="1">
                <a:solidFill>
                  <a:srgbClr val="6C63FF"/>
                </a:solidFill>
                <a:latin typeface="Arial"/>
              </a:defRPr>
            </a:pPr>
            <a:r>
              <a:rPr sz="1500" dirty="0">
                <a:latin typeface="Times New Roman" panose="02020603050405020304" pitchFamily="18" charset="0"/>
              </a:rPr>
              <a:t>• Real-Time Spatial Queries:</a:t>
            </a:r>
          </a:p>
          <a:p>
            <a:pPr algn="l">
              <a:spcAft>
                <a:spcPts val="1500"/>
              </a:spcAft>
              <a:defRPr sz="1100" b="0">
                <a:solidFill>
                  <a:srgbClr val="0F172A"/>
                </a:solidFill>
                <a:latin typeface="Arial"/>
              </a:defRPr>
            </a:pPr>
            <a:r>
              <a:rPr sz="1500" dirty="0" err="1">
                <a:latin typeface="Times New Roman" panose="02020603050405020304" pitchFamily="18" charset="0"/>
              </a:rPr>
              <a:t>PostGIS</a:t>
            </a:r>
            <a:r>
              <a:rPr sz="1500" dirty="0">
                <a:latin typeface="Times New Roman" panose="02020603050405020304" pitchFamily="18" charset="0"/>
              </a:rPr>
              <a:t> calculates route safety scores by executing geographical boundary intersections (stores, lighting poles). Redis manages high-speed WebSocket coordinates for cohort pairing.</a:t>
            </a:r>
          </a:p>
          <a:p>
            <a:pPr algn="l">
              <a:spcAft>
                <a:spcPts val="500"/>
              </a:spcAft>
              <a:defRPr sz="1200" b="1">
                <a:solidFill>
                  <a:srgbClr val="6C63FF"/>
                </a:solidFill>
                <a:latin typeface="Arial"/>
              </a:defRPr>
            </a:pPr>
            <a:r>
              <a:rPr sz="1500" dirty="0">
                <a:latin typeface="Times New Roman" panose="02020603050405020304" pitchFamily="18" charset="0"/>
              </a:rPr>
              <a:t>• IoT Sanctuary Mesh (AWS IoT Core):</a:t>
            </a:r>
          </a:p>
          <a:p>
            <a:pPr algn="l">
              <a:spcAft>
                <a:spcPts val="800"/>
              </a:spcAft>
              <a:defRPr sz="1100" b="0">
                <a:solidFill>
                  <a:srgbClr val="0F172A"/>
                </a:solidFill>
                <a:latin typeface="Arial"/>
              </a:defRPr>
            </a:pPr>
            <a:r>
              <a:rPr sz="1500" dirty="0">
                <a:latin typeface="Times New Roman" panose="02020603050405020304" pitchFamily="18" charset="0"/>
              </a:rPr>
              <a:t>Merchant BLE beacons publish signals via MQTT brokers. If a commuter walks near a safe stop, the client verifies status without exposing private location data.</a:t>
            </a:r>
          </a:p>
        </p:txBody>
      </p:sp>
      <p:sp>
        <p:nvSpPr>
          <p:cNvPr id="13" name="Rectangle 12">
            <a:extLst>
              <a:ext uri="{FF2B5EF4-FFF2-40B4-BE49-F238E27FC236}">
                <a16:creationId xmlns:a16="http://schemas.microsoft.com/office/drawing/2014/main" id="{E7516B37-B480-2F71-4186-BC5ACBE7105B}"/>
              </a:ext>
            </a:extLst>
          </p:cNvPr>
          <p:cNvSpPr/>
          <p:nvPr/>
        </p:nvSpPr>
        <p:spPr>
          <a:xfrm>
            <a:off x="6176442" y="1607332"/>
            <a:ext cx="5588210" cy="421546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289074"/>
            <a:ext cx="10972800" cy="292388"/>
          </a:xfrm>
          <a:prstGeom prst="rect">
            <a:avLst/>
          </a:prstGeom>
          <a:noFill/>
        </p:spPr>
        <p:txBody>
          <a:bodyPr wrap="square">
            <a:spAutoFit/>
          </a:bodyPr>
          <a:lstStyle/>
          <a:p>
            <a:pPr>
              <a:defRPr sz="1000" b="1">
                <a:solidFill>
                  <a:srgbClr val="00C2A8"/>
                </a:solidFill>
                <a:latin typeface="Arial"/>
              </a:defRPr>
            </a:pPr>
            <a:r>
              <a:rPr sz="1300" dirty="0">
                <a:latin typeface="Times New Roman" panose="02020603050405020304" pitchFamily="18" charset="0"/>
              </a:rPr>
              <a:t>IMPACT ANALYSIS</a:t>
            </a:r>
          </a:p>
        </p:txBody>
      </p:sp>
      <p:sp>
        <p:nvSpPr>
          <p:cNvPr id="3" name="TextBox 2"/>
          <p:cNvSpPr txBox="1"/>
          <p:nvPr/>
        </p:nvSpPr>
        <p:spPr>
          <a:xfrm>
            <a:off x="548640" y="548640"/>
            <a:ext cx="10972800" cy="461665"/>
          </a:xfrm>
          <a:prstGeom prst="rect">
            <a:avLst/>
          </a:prstGeom>
          <a:noFill/>
        </p:spPr>
        <p:txBody>
          <a:bodyPr wrap="square">
            <a:spAutoFit/>
          </a:bodyPr>
          <a:lstStyle/>
          <a:p>
            <a:pPr>
              <a:defRPr sz="2400" b="1">
                <a:solidFill>
                  <a:srgbClr val="0F172A"/>
                </a:solidFill>
                <a:latin typeface="Arial"/>
              </a:defRPr>
            </a:pPr>
            <a:r>
              <a:rPr dirty="0">
                <a:latin typeface="Times New Roman" panose="02020603050405020304" pitchFamily="18" charset="0"/>
              </a:rPr>
              <a:t>Quantifying Value: Impact Matrices &amp; Real-World Routing Scenario</a:t>
            </a:r>
          </a:p>
        </p:txBody>
      </p:sp>
      <p:sp>
        <p:nvSpPr>
          <p:cNvPr id="4" name="Rectangle 3"/>
          <p:cNvSpPr/>
          <p:nvPr/>
        </p:nvSpPr>
        <p:spPr>
          <a:xfrm>
            <a:off x="548640" y="1280160"/>
            <a:ext cx="11094415" cy="1828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5" name="Rounded Rectangle 4"/>
          <p:cNvSpPr/>
          <p:nvPr/>
        </p:nvSpPr>
        <p:spPr>
          <a:xfrm>
            <a:off x="548640" y="1645920"/>
            <a:ext cx="5303520" cy="4389120"/>
          </a:xfrm>
          <a:prstGeom prst="roundRect">
            <a:avLst/>
          </a:prstGeom>
          <a:solidFill>
            <a:srgbClr val="FFFFFF"/>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latin typeface="Times New Roman" panose="02020603050405020304" pitchFamily="18" charset="0"/>
            </a:endParaRPr>
          </a:p>
        </p:txBody>
      </p:sp>
      <p:sp>
        <p:nvSpPr>
          <p:cNvPr id="6" name="TextBox 5"/>
          <p:cNvSpPr txBox="1"/>
          <p:nvPr/>
        </p:nvSpPr>
        <p:spPr>
          <a:xfrm>
            <a:off x="822960" y="2082800"/>
            <a:ext cx="4937760" cy="3334246"/>
          </a:xfrm>
          <a:prstGeom prst="rect">
            <a:avLst/>
          </a:prstGeom>
          <a:noFill/>
        </p:spPr>
        <p:txBody>
          <a:bodyPr wrap="square" lIns="0" tIns="0" rIns="0" bIns="0">
            <a:spAutoFit/>
          </a:bodyPr>
          <a:lstStyle/>
          <a:p>
            <a:pPr algn="l">
              <a:spcAft>
                <a:spcPts val="1000"/>
              </a:spcAft>
              <a:defRPr sz="1300" b="1">
                <a:solidFill>
                  <a:srgbClr val="6C63FF"/>
                </a:solidFill>
                <a:latin typeface="Arial"/>
              </a:defRPr>
            </a:pPr>
            <a:r>
              <a:rPr sz="1500" dirty="0">
                <a:latin typeface="Times New Roman" panose="02020603050405020304" pitchFamily="18" charset="0"/>
              </a:rPr>
              <a:t>REAL-WORLD SCENARIO (Exit Metro at 9:15 PM)</a:t>
            </a:r>
          </a:p>
          <a:p>
            <a:pPr algn="l">
              <a:spcAft>
                <a:spcPts val="200"/>
              </a:spcAft>
              <a:defRPr sz="1100" b="1">
                <a:solidFill>
                  <a:srgbClr val="EF476F"/>
                </a:solidFill>
                <a:latin typeface="Arial"/>
              </a:defRPr>
            </a:pPr>
            <a:r>
              <a:rPr sz="1500" dirty="0">
                <a:latin typeface="Times New Roman" panose="02020603050405020304" pitchFamily="18" charset="0"/>
              </a:rPr>
              <a:t>• ROUTE A (Google Maps Shortest Path):</a:t>
            </a:r>
          </a:p>
          <a:p>
            <a:pPr algn="l">
              <a:spcAft>
                <a:spcPts val="1000"/>
              </a:spcAft>
              <a:defRPr sz="1100" b="0">
                <a:solidFill>
                  <a:srgbClr val="0F172A"/>
                </a:solidFill>
                <a:latin typeface="Arial"/>
              </a:defRPr>
            </a:pPr>
            <a:r>
              <a:rPr sz="1500" dirty="0">
                <a:latin typeface="Times New Roman" panose="02020603050405020304" pitchFamily="18" charset="0"/>
              </a:rPr>
              <a:t>Time: 18 Minutes | Safety Index (UVI) = 62%</a:t>
            </a:r>
            <a:br>
              <a:rPr sz="1500" dirty="0">
                <a:latin typeface="Times New Roman" panose="02020603050405020304" pitchFamily="18" charset="0"/>
              </a:rPr>
            </a:br>
            <a:r>
              <a:rPr sz="1500" dirty="0">
                <a:latin typeface="Times New Roman" panose="02020603050405020304" pitchFamily="18" charset="0"/>
              </a:rPr>
              <a:t>Reason: Shortcut through unlit, isolated layout alleyways.</a:t>
            </a:r>
          </a:p>
          <a:p>
            <a:pPr algn="l">
              <a:spcAft>
                <a:spcPts val="200"/>
              </a:spcAft>
              <a:defRPr sz="1100" b="1">
                <a:solidFill>
                  <a:srgbClr val="00C2A8"/>
                </a:solidFill>
                <a:latin typeface="Arial"/>
              </a:defRPr>
            </a:pPr>
            <a:r>
              <a:rPr sz="1500" dirty="0">
                <a:latin typeface="Times New Roman" panose="02020603050405020304" pitchFamily="18" charset="0"/>
              </a:rPr>
              <a:t>• ROUTE B (</a:t>
            </a:r>
            <a:r>
              <a:rPr sz="1500" dirty="0" err="1">
                <a:latin typeface="Times New Roman" panose="02020603050405020304" pitchFamily="18" charset="0"/>
              </a:rPr>
              <a:t>AuraPath</a:t>
            </a:r>
            <a:r>
              <a:rPr sz="1500" dirty="0">
                <a:latin typeface="Times New Roman" panose="02020603050405020304" pitchFamily="18" charset="0"/>
              </a:rPr>
              <a:t> Recommended Safe Corridor):</a:t>
            </a:r>
          </a:p>
          <a:p>
            <a:pPr algn="l">
              <a:spcAft>
                <a:spcPts val="1500"/>
              </a:spcAft>
              <a:defRPr sz="1100" b="0">
                <a:solidFill>
                  <a:srgbClr val="0F172A"/>
                </a:solidFill>
                <a:latin typeface="Arial"/>
              </a:defRPr>
            </a:pPr>
            <a:r>
              <a:rPr sz="1500" dirty="0">
                <a:latin typeface="Times New Roman" panose="02020603050405020304" pitchFamily="18" charset="0"/>
              </a:rPr>
              <a:t>Time: 22 Minutes | Safety Index (UVI) = 91%</a:t>
            </a:r>
            <a:br>
              <a:rPr sz="1500" dirty="0">
                <a:latin typeface="Times New Roman" panose="02020603050405020304" pitchFamily="18" charset="0"/>
              </a:rPr>
            </a:br>
            <a:r>
              <a:rPr sz="1500" dirty="0">
                <a:latin typeface="Times New Roman" panose="02020603050405020304" pitchFamily="18" charset="0"/>
              </a:rPr>
              <a:t>Reason: Routes along well-lit main layout roads, active stores, and police beats.</a:t>
            </a:r>
          </a:p>
          <a:p>
            <a:pPr algn="l">
              <a:spcAft>
                <a:spcPts val="500"/>
              </a:spcAft>
              <a:defRPr sz="1200" b="1">
                <a:solidFill>
                  <a:srgbClr val="0F172A"/>
                </a:solidFill>
                <a:latin typeface="Arial"/>
              </a:defRPr>
            </a:pPr>
            <a:r>
              <a:rPr sz="1500" dirty="0">
                <a:latin typeface="Times New Roman" panose="02020603050405020304" pitchFamily="18" charset="0"/>
              </a:rPr>
              <a:t>DECISION ENGINE ADVANTAGE:</a:t>
            </a:r>
          </a:p>
          <a:p>
            <a:pPr algn="l">
              <a:spcAft>
                <a:spcPts val="800"/>
              </a:spcAft>
              <a:defRPr sz="1100" b="0">
                <a:solidFill>
                  <a:srgbClr val="64748B"/>
                </a:solidFill>
                <a:latin typeface="Arial"/>
              </a:defRPr>
            </a:pPr>
            <a:r>
              <a:rPr sz="1500" dirty="0" err="1">
                <a:latin typeface="Times New Roman" panose="02020603050405020304" pitchFamily="18" charset="0"/>
              </a:rPr>
              <a:t>AuraPath</a:t>
            </a:r>
            <a:r>
              <a:rPr sz="1500" dirty="0">
                <a:latin typeface="Times New Roman" panose="02020603050405020304" pitchFamily="18" charset="0"/>
              </a:rPr>
              <a:t> recommends Route B. While 4 minutes longer, the risk footprint is significantly reduced, prioritizing safety over travel speed.</a:t>
            </a:r>
          </a:p>
        </p:txBody>
      </p:sp>
      <p:sp>
        <p:nvSpPr>
          <p:cNvPr id="7" name="Rounded Rectangle 6"/>
          <p:cNvSpPr/>
          <p:nvPr/>
        </p:nvSpPr>
        <p:spPr>
          <a:xfrm>
            <a:off x="6217920" y="1645920"/>
            <a:ext cx="539496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latin typeface="Times New Roman" panose="02020603050405020304" pitchFamily="18" charset="0"/>
            </a:endParaRPr>
          </a:p>
        </p:txBody>
      </p:sp>
      <p:sp>
        <p:nvSpPr>
          <p:cNvPr id="8" name="TextBox 7"/>
          <p:cNvSpPr txBox="1"/>
          <p:nvPr/>
        </p:nvSpPr>
        <p:spPr>
          <a:xfrm>
            <a:off x="6492240" y="2078201"/>
            <a:ext cx="5029200" cy="3244478"/>
          </a:xfrm>
          <a:prstGeom prst="rect">
            <a:avLst/>
          </a:prstGeom>
          <a:noFill/>
        </p:spPr>
        <p:txBody>
          <a:bodyPr wrap="square" lIns="0" tIns="0" rIns="0" bIns="0">
            <a:spAutoFit/>
          </a:bodyPr>
          <a:lstStyle/>
          <a:p>
            <a:pPr algn="l">
              <a:spcAft>
                <a:spcPts val="1500"/>
              </a:spcAft>
              <a:defRPr sz="1300" b="1">
                <a:solidFill>
                  <a:srgbClr val="00C2A8"/>
                </a:solidFill>
                <a:latin typeface="Arial"/>
              </a:defRPr>
            </a:pPr>
            <a:r>
              <a:rPr sz="1500" dirty="0">
                <a:latin typeface="Times New Roman" panose="02020603050405020304" pitchFamily="18" charset="0"/>
              </a:rPr>
              <a:t>REALISTIC MEASURABLE KPIs</a:t>
            </a:r>
          </a:p>
          <a:p>
            <a:pPr algn="l">
              <a:spcAft>
                <a:spcPts val="1000"/>
              </a:spcAft>
              <a:defRPr sz="1100" b="0">
                <a:solidFill>
                  <a:srgbClr val="0F172A"/>
                </a:solidFill>
                <a:latin typeface="Arial"/>
              </a:defRPr>
            </a:pPr>
            <a:r>
              <a:rPr sz="1500" dirty="0">
                <a:latin typeface="Times New Roman" panose="02020603050405020304" pitchFamily="18" charset="0"/>
              </a:rPr>
              <a:t>• SAFETY IMPACT: 80% decrease in evening commute anxiety; 60% reduction in transition zone safety incidents.</a:t>
            </a:r>
          </a:p>
          <a:p>
            <a:pPr algn="l">
              <a:spcAft>
                <a:spcPts val="1000"/>
              </a:spcAft>
              <a:defRPr sz="1100" b="0">
                <a:solidFill>
                  <a:srgbClr val="0F172A"/>
                </a:solidFill>
                <a:latin typeface="Arial"/>
              </a:defRPr>
            </a:pPr>
            <a:r>
              <a:rPr sz="1500" dirty="0">
                <a:latin typeface="Times New Roman" panose="02020603050405020304" pitchFamily="18" charset="0"/>
              </a:rPr>
              <a:t>• SOCIAL IMPACT: Enhances female mobility confidence and community vigilance near transit hubs.</a:t>
            </a:r>
          </a:p>
          <a:p>
            <a:pPr algn="l">
              <a:spcAft>
                <a:spcPts val="1000"/>
              </a:spcAft>
              <a:defRPr sz="1100" b="0">
                <a:solidFill>
                  <a:srgbClr val="0F172A"/>
                </a:solidFill>
                <a:latin typeface="Arial"/>
              </a:defRPr>
            </a:pPr>
            <a:r>
              <a:rPr sz="1500" dirty="0">
                <a:latin typeface="Times New Roman" panose="02020603050405020304" pitchFamily="18" charset="0"/>
              </a:rPr>
              <a:t>• ECONOMIC IMPACT: Decreases evening labor turnover rates for retail, hospitality, and IT shift workers.</a:t>
            </a:r>
          </a:p>
          <a:p>
            <a:pPr algn="l">
              <a:spcAft>
                <a:spcPts val="1000"/>
              </a:spcAft>
              <a:defRPr sz="1100" b="0">
                <a:solidFill>
                  <a:srgbClr val="0F172A"/>
                </a:solidFill>
                <a:latin typeface="Arial"/>
              </a:defRPr>
            </a:pPr>
            <a:r>
              <a:rPr sz="1500" dirty="0">
                <a:latin typeface="Times New Roman" panose="02020603050405020304" pitchFamily="18" charset="0"/>
              </a:rPr>
              <a:t>• GOVT IMPACT: Helps municipal agencies target streetlight grid upgrades and optimize police patrols.</a:t>
            </a:r>
          </a:p>
          <a:p>
            <a:pPr algn="l">
              <a:spcAft>
                <a:spcPts val="800"/>
              </a:spcAft>
              <a:defRPr sz="1100" b="0">
                <a:solidFill>
                  <a:srgbClr val="64748B"/>
                </a:solidFill>
                <a:latin typeface="Arial"/>
              </a:defRPr>
            </a:pPr>
            <a:r>
              <a:rPr sz="1500" dirty="0">
                <a:latin typeface="Times New Roman" panose="02020603050405020304" pitchFamily="18" charset="0"/>
              </a:rPr>
              <a:t>• SDG ALIGNMENT: Directly supports SDG 5 (Gender Equality), SDG 8 (Work Growth), and SDG 11 (Safe Cities).</a:t>
            </a: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92388"/>
          </a:xfrm>
          <a:prstGeom prst="rect">
            <a:avLst/>
          </a:prstGeom>
          <a:noFill/>
        </p:spPr>
        <p:txBody>
          <a:bodyPr wrap="square">
            <a:spAutoFit/>
          </a:bodyPr>
          <a:lstStyle/>
          <a:p>
            <a:pPr>
              <a:defRPr sz="1000" b="1">
                <a:solidFill>
                  <a:srgbClr val="00C2A8"/>
                </a:solidFill>
                <a:latin typeface="Arial"/>
              </a:defRPr>
            </a:pPr>
            <a:r>
              <a:rPr sz="1300" dirty="0">
                <a:latin typeface="Times New Roman" panose="02020603050405020304" pitchFamily="18" charset="0"/>
              </a:rPr>
              <a:t>ROADMAP &amp; SCALING</a:t>
            </a:r>
          </a:p>
        </p:txBody>
      </p:sp>
      <p:sp>
        <p:nvSpPr>
          <p:cNvPr id="3" name="TextBox 2"/>
          <p:cNvSpPr txBox="1"/>
          <p:nvPr/>
        </p:nvSpPr>
        <p:spPr>
          <a:xfrm>
            <a:off x="530352" y="669965"/>
            <a:ext cx="10972800" cy="353943"/>
          </a:xfrm>
          <a:prstGeom prst="rect">
            <a:avLst/>
          </a:prstGeom>
          <a:noFill/>
        </p:spPr>
        <p:txBody>
          <a:bodyPr wrap="square">
            <a:spAutoFit/>
          </a:bodyPr>
          <a:lstStyle/>
          <a:p>
            <a:pPr>
              <a:defRPr sz="2400" b="1">
                <a:solidFill>
                  <a:srgbClr val="0F172A"/>
                </a:solidFill>
                <a:latin typeface="Arial"/>
              </a:defRPr>
            </a:pPr>
            <a:r>
              <a:rPr sz="1700" dirty="0">
                <a:latin typeface="Times New Roman" panose="02020603050405020304" pitchFamily="18" charset="0"/>
              </a:rPr>
              <a:t>Roadmap to Launch &amp; Dynamic Cohort Fallbacks</a:t>
            </a:r>
          </a:p>
        </p:txBody>
      </p:sp>
      <p:sp>
        <p:nvSpPr>
          <p:cNvPr id="4" name="Rectangle 3"/>
          <p:cNvSpPr/>
          <p:nvPr/>
        </p:nvSpPr>
        <p:spPr>
          <a:xfrm>
            <a:off x="548640" y="1280160"/>
            <a:ext cx="11094415" cy="1828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dirty="0">
              <a:latin typeface="Times New Roman" panose="02020603050405020304" pitchFamily="18" charset="0"/>
            </a:endParaRPr>
          </a:p>
        </p:txBody>
      </p:sp>
      <p:sp>
        <p:nvSpPr>
          <p:cNvPr id="5" name="Rounded Rectangle 4"/>
          <p:cNvSpPr/>
          <p:nvPr/>
        </p:nvSpPr>
        <p:spPr>
          <a:xfrm>
            <a:off x="548640" y="1645920"/>
            <a:ext cx="3474720" cy="2011680"/>
          </a:xfrm>
          <a:prstGeom prst="roundRect">
            <a:avLst/>
          </a:prstGeom>
          <a:solidFill>
            <a:srgbClr val="6C63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dirty="0">
              <a:latin typeface="Times New Roman" panose="02020603050405020304" pitchFamily="18" charset="0"/>
            </a:endParaRPr>
          </a:p>
        </p:txBody>
      </p:sp>
      <p:sp>
        <p:nvSpPr>
          <p:cNvPr id="6" name="TextBox 5"/>
          <p:cNvSpPr txBox="1"/>
          <p:nvPr/>
        </p:nvSpPr>
        <p:spPr>
          <a:xfrm>
            <a:off x="685800" y="1926790"/>
            <a:ext cx="3200400" cy="1179810"/>
          </a:xfrm>
          <a:prstGeom prst="rect">
            <a:avLst/>
          </a:prstGeom>
          <a:noFill/>
        </p:spPr>
        <p:txBody>
          <a:bodyPr wrap="square" lIns="0" tIns="0" rIns="0" bIns="0">
            <a:spAutoFit/>
          </a:bodyPr>
          <a:lstStyle/>
          <a:p>
            <a:pPr algn="l">
              <a:spcAft>
                <a:spcPts val="1000"/>
              </a:spcAft>
              <a:defRPr sz="1300" b="1">
                <a:solidFill>
                  <a:srgbClr val="FFFFFF"/>
                </a:solidFill>
                <a:latin typeface="Arial"/>
              </a:defRPr>
            </a:pPr>
            <a:r>
              <a:rPr sz="1300" dirty="0">
                <a:latin typeface="Times New Roman" panose="02020603050405020304" pitchFamily="18" charset="0"/>
              </a:rPr>
              <a:t>PHASE 1: 3-MONTH MVP</a:t>
            </a:r>
          </a:p>
          <a:p>
            <a:pPr algn="l">
              <a:spcAft>
                <a:spcPts val="200"/>
              </a:spcAft>
              <a:defRPr sz="1100" b="0">
                <a:solidFill>
                  <a:srgbClr val="FFFFFF"/>
                </a:solidFill>
                <a:latin typeface="Arial"/>
              </a:defRPr>
            </a:pPr>
            <a:r>
              <a:rPr sz="1300" dirty="0">
                <a:latin typeface="Times New Roman" panose="02020603050405020304" pitchFamily="18" charset="0"/>
              </a:rPr>
              <a:t>• Target: Custom OSRM pathfinding algorithm.</a:t>
            </a:r>
          </a:p>
          <a:p>
            <a:pPr algn="l">
              <a:spcAft>
                <a:spcPts val="200"/>
              </a:spcAft>
              <a:defRPr sz="1100" b="0">
                <a:solidFill>
                  <a:srgbClr val="FFFFFF"/>
                </a:solidFill>
                <a:latin typeface="Arial"/>
              </a:defRPr>
            </a:pPr>
            <a:r>
              <a:rPr sz="1300" dirty="0">
                <a:latin typeface="Times New Roman" panose="02020603050405020304" pitchFamily="18" charset="0"/>
              </a:rPr>
              <a:t>• Build: React Native UI and </a:t>
            </a:r>
            <a:r>
              <a:rPr sz="1300" dirty="0" err="1">
                <a:latin typeface="Times New Roman" panose="02020603050405020304" pitchFamily="18" charset="0"/>
              </a:rPr>
              <a:t>PostGIS</a:t>
            </a:r>
            <a:r>
              <a:rPr sz="1300" dirty="0">
                <a:latin typeface="Times New Roman" panose="02020603050405020304" pitchFamily="18" charset="0"/>
              </a:rPr>
              <a:t> geospatial database mapping streetlights.</a:t>
            </a:r>
          </a:p>
          <a:p>
            <a:pPr algn="l">
              <a:spcAft>
                <a:spcPts val="800"/>
              </a:spcAft>
              <a:defRPr sz="1100" b="0">
                <a:solidFill>
                  <a:srgbClr val="FFFFFF"/>
                </a:solidFill>
                <a:latin typeface="Arial"/>
              </a:defRPr>
            </a:pPr>
            <a:r>
              <a:rPr sz="1300" dirty="0">
                <a:latin typeface="Times New Roman" panose="02020603050405020304" pitchFamily="18" charset="0"/>
              </a:rPr>
              <a:t>• Milestone: Safe Corridor engine verified.</a:t>
            </a:r>
          </a:p>
        </p:txBody>
      </p:sp>
      <p:sp>
        <p:nvSpPr>
          <p:cNvPr id="7" name="Rounded Rectangle 6"/>
          <p:cNvSpPr/>
          <p:nvPr/>
        </p:nvSpPr>
        <p:spPr>
          <a:xfrm>
            <a:off x="4352544" y="1645920"/>
            <a:ext cx="3474720" cy="2011680"/>
          </a:xfrm>
          <a:prstGeom prst="roundRect">
            <a:avLst/>
          </a:prstGeom>
          <a:solidFill>
            <a:srgbClr val="00C2A8"/>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dirty="0">
              <a:latin typeface="Times New Roman" panose="02020603050405020304" pitchFamily="18" charset="0"/>
            </a:endParaRPr>
          </a:p>
        </p:txBody>
      </p:sp>
      <p:sp>
        <p:nvSpPr>
          <p:cNvPr id="8" name="TextBox 7"/>
          <p:cNvSpPr txBox="1"/>
          <p:nvPr/>
        </p:nvSpPr>
        <p:spPr>
          <a:xfrm>
            <a:off x="4489704" y="1926790"/>
            <a:ext cx="3200400" cy="1179810"/>
          </a:xfrm>
          <a:prstGeom prst="rect">
            <a:avLst/>
          </a:prstGeom>
          <a:noFill/>
        </p:spPr>
        <p:txBody>
          <a:bodyPr wrap="square" lIns="0" tIns="0" rIns="0" bIns="0">
            <a:spAutoFit/>
          </a:bodyPr>
          <a:lstStyle/>
          <a:p>
            <a:pPr algn="l">
              <a:spcAft>
                <a:spcPts val="1000"/>
              </a:spcAft>
              <a:defRPr sz="1300" b="1">
                <a:solidFill>
                  <a:srgbClr val="FFFFFF"/>
                </a:solidFill>
                <a:latin typeface="Arial"/>
              </a:defRPr>
            </a:pPr>
            <a:r>
              <a:rPr sz="1300" dirty="0">
                <a:latin typeface="Times New Roman" panose="02020603050405020304" pitchFamily="18" charset="0"/>
              </a:rPr>
              <a:t>PHASE 2: 6-MONTH PILOT</a:t>
            </a:r>
          </a:p>
          <a:p>
            <a:pPr algn="l">
              <a:spcAft>
                <a:spcPts val="200"/>
              </a:spcAft>
              <a:defRPr sz="1100" b="0">
                <a:solidFill>
                  <a:srgbClr val="FFFFFF"/>
                </a:solidFill>
                <a:latin typeface="Arial"/>
              </a:defRPr>
            </a:pPr>
            <a:r>
              <a:rPr sz="1300" dirty="0">
                <a:latin typeface="Times New Roman" panose="02020603050405020304" pitchFamily="18" charset="0"/>
              </a:rPr>
              <a:t>• Target: Closed-loop tests near 5 hubs.</a:t>
            </a:r>
          </a:p>
          <a:p>
            <a:pPr algn="l">
              <a:spcAft>
                <a:spcPts val="200"/>
              </a:spcAft>
              <a:defRPr sz="1100" b="0">
                <a:solidFill>
                  <a:srgbClr val="FFFFFF"/>
                </a:solidFill>
                <a:latin typeface="Arial"/>
              </a:defRPr>
            </a:pPr>
            <a:r>
              <a:rPr sz="1300" dirty="0">
                <a:latin typeface="Times New Roman" panose="02020603050405020304" pitchFamily="18" charset="0"/>
              </a:rPr>
              <a:t>• Build: Onboard BLE shops, WebSocket coordinate syncing, package local </a:t>
            </a:r>
            <a:r>
              <a:rPr sz="1300" dirty="0" err="1">
                <a:latin typeface="Times New Roman" panose="02020603050405020304" pitchFamily="18" charset="0"/>
              </a:rPr>
              <a:t>TFLite</a:t>
            </a:r>
            <a:r>
              <a:rPr sz="1300" dirty="0">
                <a:latin typeface="Times New Roman" panose="02020603050405020304" pitchFamily="18" charset="0"/>
              </a:rPr>
              <a:t>.</a:t>
            </a:r>
          </a:p>
          <a:p>
            <a:pPr algn="l">
              <a:spcAft>
                <a:spcPts val="800"/>
              </a:spcAft>
              <a:defRPr sz="1100" b="0">
                <a:solidFill>
                  <a:srgbClr val="FFFFFF"/>
                </a:solidFill>
                <a:latin typeface="Arial"/>
              </a:defRPr>
            </a:pPr>
            <a:r>
              <a:rPr sz="1300" dirty="0">
                <a:latin typeface="Times New Roman" panose="02020603050405020304" pitchFamily="18" charset="0"/>
              </a:rPr>
              <a:t>• Milestone: 100 shops registered, MVP testing.</a:t>
            </a:r>
          </a:p>
        </p:txBody>
      </p:sp>
      <p:sp>
        <p:nvSpPr>
          <p:cNvPr id="9" name="Rounded Rectangle 8"/>
          <p:cNvSpPr/>
          <p:nvPr/>
        </p:nvSpPr>
        <p:spPr>
          <a:xfrm>
            <a:off x="8165592" y="1645920"/>
            <a:ext cx="347472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dirty="0">
              <a:latin typeface="Times New Roman" panose="02020603050405020304" pitchFamily="18" charset="0"/>
            </a:endParaRPr>
          </a:p>
        </p:txBody>
      </p:sp>
      <p:sp>
        <p:nvSpPr>
          <p:cNvPr id="10" name="TextBox 9"/>
          <p:cNvSpPr txBox="1"/>
          <p:nvPr/>
        </p:nvSpPr>
        <p:spPr>
          <a:xfrm>
            <a:off x="8302752" y="2039074"/>
            <a:ext cx="3200400" cy="1179810"/>
          </a:xfrm>
          <a:prstGeom prst="rect">
            <a:avLst/>
          </a:prstGeom>
          <a:noFill/>
        </p:spPr>
        <p:txBody>
          <a:bodyPr wrap="square" lIns="0" tIns="0" rIns="0" bIns="0">
            <a:spAutoFit/>
          </a:bodyPr>
          <a:lstStyle/>
          <a:p>
            <a:pPr algn="l">
              <a:spcAft>
                <a:spcPts val="1000"/>
              </a:spcAft>
              <a:defRPr sz="1300" b="1">
                <a:solidFill>
                  <a:srgbClr val="0F172A"/>
                </a:solidFill>
                <a:latin typeface="Arial"/>
              </a:defRPr>
            </a:pPr>
            <a:r>
              <a:rPr sz="1300" dirty="0">
                <a:latin typeface="Times New Roman" panose="02020603050405020304" pitchFamily="18" charset="0"/>
              </a:rPr>
              <a:t>PHASE 3: 12-MONTH DEPLOY</a:t>
            </a:r>
          </a:p>
          <a:p>
            <a:pPr algn="l">
              <a:spcAft>
                <a:spcPts val="200"/>
              </a:spcAft>
              <a:defRPr sz="1100" b="0">
                <a:solidFill>
                  <a:srgbClr val="64748B"/>
                </a:solidFill>
                <a:latin typeface="Arial"/>
              </a:defRPr>
            </a:pPr>
            <a:r>
              <a:rPr sz="1300" dirty="0">
                <a:latin typeface="Times New Roman" panose="02020603050405020304" pitchFamily="18" charset="0"/>
              </a:rPr>
              <a:t>• Target: City-scale scale (Bengaluru).</a:t>
            </a:r>
          </a:p>
          <a:p>
            <a:pPr algn="l">
              <a:spcAft>
                <a:spcPts val="200"/>
              </a:spcAft>
              <a:defRPr sz="1100" b="0">
                <a:solidFill>
                  <a:srgbClr val="64748B"/>
                </a:solidFill>
                <a:latin typeface="Arial"/>
              </a:defRPr>
            </a:pPr>
            <a:r>
              <a:rPr sz="1300" dirty="0">
                <a:latin typeface="Times New Roman" panose="02020603050405020304" pitchFamily="18" charset="0"/>
              </a:rPr>
              <a:t>• Build: Deploy city-wide Digital Twin dashboards, coordinate police beats.</a:t>
            </a:r>
          </a:p>
          <a:p>
            <a:pPr algn="l">
              <a:spcAft>
                <a:spcPts val="800"/>
              </a:spcAft>
              <a:defRPr sz="1100" b="0">
                <a:solidFill>
                  <a:srgbClr val="64748B"/>
                </a:solidFill>
                <a:latin typeface="Arial"/>
              </a:defRPr>
            </a:pPr>
            <a:r>
              <a:rPr sz="1300" dirty="0">
                <a:latin typeface="Times New Roman" panose="02020603050405020304" pitchFamily="18" charset="0"/>
              </a:rPr>
              <a:t>• Milestone: 10,000+ commuters secured.</a:t>
            </a:r>
          </a:p>
        </p:txBody>
      </p:sp>
      <p:sp>
        <p:nvSpPr>
          <p:cNvPr id="11" name="Rounded Rectangle 10"/>
          <p:cNvSpPr/>
          <p:nvPr/>
        </p:nvSpPr>
        <p:spPr>
          <a:xfrm>
            <a:off x="548640" y="4023360"/>
            <a:ext cx="11094415" cy="2194560"/>
          </a:xfrm>
          <a:prstGeom prst="roundRect">
            <a:avLst/>
          </a:prstGeom>
          <a:solidFill>
            <a:srgbClr val="FFFFFF"/>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dirty="0">
              <a:latin typeface="Times New Roman" panose="02020603050405020304" pitchFamily="18" charset="0"/>
            </a:endParaRPr>
          </a:p>
        </p:txBody>
      </p:sp>
      <p:sp>
        <p:nvSpPr>
          <p:cNvPr id="12" name="TextBox 11"/>
          <p:cNvSpPr txBox="1"/>
          <p:nvPr/>
        </p:nvSpPr>
        <p:spPr>
          <a:xfrm>
            <a:off x="731520" y="4492263"/>
            <a:ext cx="10789920" cy="1256754"/>
          </a:xfrm>
          <a:prstGeom prst="rect">
            <a:avLst/>
          </a:prstGeom>
          <a:noFill/>
        </p:spPr>
        <p:txBody>
          <a:bodyPr wrap="square" lIns="0" tIns="0" rIns="0" bIns="0">
            <a:spAutoFit/>
          </a:bodyPr>
          <a:lstStyle/>
          <a:p>
            <a:pPr algn="l">
              <a:spcAft>
                <a:spcPts val="1000"/>
              </a:spcAft>
              <a:defRPr sz="1300" b="1">
                <a:solidFill>
                  <a:srgbClr val="6C63FF"/>
                </a:solidFill>
                <a:latin typeface="Arial"/>
              </a:defRPr>
            </a:pPr>
            <a:r>
              <a:rPr sz="1300" dirty="0">
                <a:latin typeface="Times New Roman" panose="02020603050405020304" pitchFamily="18" charset="0"/>
              </a:rPr>
              <a:t>DYNAMIC COHORT FALLBACK STRATEGY (If no other commuters are available)</a:t>
            </a:r>
          </a:p>
          <a:p>
            <a:pPr algn="l">
              <a:spcAft>
                <a:spcPts val="1000"/>
              </a:spcAft>
              <a:defRPr sz="1200" b="1">
                <a:solidFill>
                  <a:srgbClr val="0F172A"/>
                </a:solidFill>
                <a:latin typeface="Arial"/>
              </a:defRPr>
            </a:pPr>
            <a:r>
              <a:rPr sz="1300" dirty="0">
                <a:latin typeface="Times New Roman" panose="02020603050405020304" pitchFamily="18" charset="0"/>
              </a:rPr>
              <a:t>No Cohort Available -&gt; Trigger Enhanced Monitoring Mode -&gt; Engage Higher AI Risk Analysis -&gt; Increase Verification Checks -&gt; Activate Sanctuary Mesh Guidance</a:t>
            </a:r>
          </a:p>
          <a:p>
            <a:pPr algn="l">
              <a:spcAft>
                <a:spcPts val="800"/>
              </a:spcAft>
              <a:defRPr sz="1100" b="0">
                <a:solidFill>
                  <a:srgbClr val="64748B"/>
                </a:solidFill>
                <a:latin typeface="Arial"/>
              </a:defRPr>
            </a:pPr>
            <a:r>
              <a:rPr sz="1300" dirty="0">
                <a:latin typeface="Times New Roman" panose="02020603050405020304" pitchFamily="18" charset="0"/>
              </a:rPr>
              <a:t>EXPLANATION: If no verified commuters are departing at the same time, the app transitions the user to Smart Guardian Mode. Sensors increase polling frequencies, checking route adherence and ambient sound for distress, while mapping safe stops along the way.</a:t>
            </a: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09447" y="278785"/>
            <a:ext cx="10972800" cy="292388"/>
          </a:xfrm>
          <a:prstGeom prst="rect">
            <a:avLst/>
          </a:prstGeom>
          <a:noFill/>
        </p:spPr>
        <p:txBody>
          <a:bodyPr wrap="square">
            <a:spAutoFit/>
          </a:bodyPr>
          <a:lstStyle/>
          <a:p>
            <a:pPr>
              <a:defRPr sz="1000" b="1">
                <a:solidFill>
                  <a:srgbClr val="00C2A8"/>
                </a:solidFill>
                <a:latin typeface="Arial"/>
              </a:defRPr>
            </a:pPr>
            <a:r>
              <a:rPr sz="1300" dirty="0">
                <a:latin typeface="Times New Roman" panose="02020603050405020304" pitchFamily="18" charset="0"/>
              </a:rPr>
              <a:t>TEAM </a:t>
            </a:r>
            <a:r>
              <a:rPr lang="en-IN" sz="1300" dirty="0">
                <a:latin typeface="Times New Roman" panose="02020603050405020304" pitchFamily="18" charset="0"/>
              </a:rPr>
              <a:t>CAPABILITIES </a:t>
            </a:r>
            <a:endParaRPr sz="1300" dirty="0">
              <a:latin typeface="Times New Roman" panose="02020603050405020304" pitchFamily="18" charset="0"/>
            </a:endParaRPr>
          </a:p>
        </p:txBody>
      </p:sp>
      <p:sp>
        <p:nvSpPr>
          <p:cNvPr id="3" name="TextBox 2"/>
          <p:cNvSpPr txBox="1"/>
          <p:nvPr/>
        </p:nvSpPr>
        <p:spPr>
          <a:xfrm>
            <a:off x="548640" y="548640"/>
            <a:ext cx="10972800" cy="461665"/>
          </a:xfrm>
          <a:prstGeom prst="rect">
            <a:avLst/>
          </a:prstGeom>
          <a:noFill/>
        </p:spPr>
        <p:txBody>
          <a:bodyPr wrap="square">
            <a:spAutoFit/>
          </a:bodyPr>
          <a:lstStyle/>
          <a:p>
            <a:pPr>
              <a:defRPr sz="2400" b="1">
                <a:solidFill>
                  <a:srgbClr val="0F172A"/>
                </a:solidFill>
                <a:latin typeface="Arial"/>
              </a:defRPr>
            </a:pPr>
            <a:r>
              <a:rPr dirty="0">
                <a:latin typeface="Times New Roman" panose="02020603050405020304" pitchFamily="18" charset="0"/>
              </a:rPr>
              <a:t>Skills Matrix &amp; Strategic Pitch</a:t>
            </a:r>
            <a:r>
              <a:rPr lang="en-IN" dirty="0">
                <a:latin typeface="Times New Roman" panose="02020603050405020304" pitchFamily="18" charset="0"/>
              </a:rPr>
              <a:t> of Team Members:</a:t>
            </a:r>
            <a:endParaRPr dirty="0">
              <a:latin typeface="Times New Roman" panose="02020603050405020304" pitchFamily="18" charset="0"/>
            </a:endParaRPr>
          </a:p>
        </p:txBody>
      </p:sp>
      <p:sp>
        <p:nvSpPr>
          <p:cNvPr id="4" name="Rectangle 3"/>
          <p:cNvSpPr/>
          <p:nvPr/>
        </p:nvSpPr>
        <p:spPr>
          <a:xfrm>
            <a:off x="548640" y="1280160"/>
            <a:ext cx="11094415" cy="1828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5" name="Rounded Rectangle 4"/>
          <p:cNvSpPr/>
          <p:nvPr/>
        </p:nvSpPr>
        <p:spPr>
          <a:xfrm>
            <a:off x="548640" y="1540657"/>
            <a:ext cx="9824720" cy="4951583"/>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endParaRPr>
          </a:p>
        </p:txBody>
      </p:sp>
      <p:sp>
        <p:nvSpPr>
          <p:cNvPr id="6" name="TextBox 5"/>
          <p:cNvSpPr txBox="1"/>
          <p:nvPr/>
        </p:nvSpPr>
        <p:spPr>
          <a:xfrm>
            <a:off x="731520" y="1828800"/>
            <a:ext cx="9946640" cy="4154984"/>
          </a:xfrm>
          <a:prstGeom prst="rect">
            <a:avLst/>
          </a:prstGeom>
          <a:noFill/>
        </p:spPr>
        <p:txBody>
          <a:bodyPr wrap="square" lIns="0" tIns="0" rIns="0" bIns="0">
            <a:spAutoFit/>
          </a:bodyPr>
          <a:lstStyle/>
          <a:p>
            <a:pPr algn="ctr"/>
            <a:br>
              <a:rPr lang="en-IN" sz="1500" dirty="0">
                <a:latin typeface="Times New Roman" panose="02020603050405020304" pitchFamily="18" charset="0"/>
                <a:cs typeface="Times New Roman" panose="02020603050405020304" pitchFamily="18" charset="0"/>
              </a:rPr>
            </a:br>
            <a:r>
              <a:rPr lang="en-IN" sz="1500" b="1" dirty="0">
                <a:latin typeface="Times New Roman" panose="02020603050405020304" pitchFamily="18" charset="0"/>
                <a:cs typeface="Times New Roman" panose="02020603050405020304" pitchFamily="18" charset="0"/>
              </a:rPr>
              <a:t>Member 1: Product Lead &amp; UI/UX Designer</a:t>
            </a:r>
          </a:p>
          <a:p>
            <a:pPr algn="ctr"/>
            <a:r>
              <a:rPr lang="en-IN" sz="1500" b="1" dirty="0">
                <a:latin typeface="Times New Roman" panose="02020603050405020304" pitchFamily="18" charset="0"/>
                <a:cs typeface="Times New Roman" panose="02020603050405020304" pitchFamily="18" charset="0"/>
              </a:rPr>
              <a:t>Focus:</a:t>
            </a:r>
            <a:r>
              <a:rPr lang="en-IN" sz="1500" dirty="0">
                <a:latin typeface="Times New Roman" panose="02020603050405020304" pitchFamily="18" charset="0"/>
                <a:cs typeface="Times New Roman" panose="02020603050405020304" pitchFamily="18" charset="0"/>
              </a:rPr>
              <a:t> User Experience &amp; Product Design</a:t>
            </a:r>
            <a:br>
              <a:rPr lang="en-IN" sz="1500" dirty="0">
                <a:latin typeface="Times New Roman" panose="02020603050405020304" pitchFamily="18" charset="0"/>
                <a:cs typeface="Times New Roman" panose="02020603050405020304" pitchFamily="18" charset="0"/>
              </a:rPr>
            </a:br>
            <a:r>
              <a:rPr lang="en-IN" sz="1500" b="1" dirty="0">
                <a:latin typeface="Times New Roman" panose="02020603050405020304" pitchFamily="18" charset="0"/>
                <a:cs typeface="Times New Roman" panose="02020603050405020304" pitchFamily="18" charset="0"/>
              </a:rPr>
              <a:t>Skills:</a:t>
            </a:r>
            <a:r>
              <a:rPr lang="en-IN" sz="1500" dirty="0">
                <a:latin typeface="Times New Roman" panose="02020603050405020304" pitchFamily="18" charset="0"/>
                <a:cs typeface="Times New Roman" panose="02020603050405020304" pitchFamily="18" charset="0"/>
              </a:rPr>
              <a:t> Figma, Wireframing, Prototyping, User Flow Design, Presentation Design</a:t>
            </a:r>
            <a:br>
              <a:rPr lang="en-IN" sz="1500" dirty="0">
                <a:latin typeface="Times New Roman" panose="02020603050405020304" pitchFamily="18" charset="0"/>
                <a:cs typeface="Times New Roman" panose="02020603050405020304" pitchFamily="18" charset="0"/>
              </a:rPr>
            </a:br>
            <a:r>
              <a:rPr lang="en-IN" sz="1500" b="1" dirty="0">
                <a:latin typeface="Times New Roman" panose="02020603050405020304" pitchFamily="18" charset="0"/>
                <a:cs typeface="Times New Roman" panose="02020603050405020304" pitchFamily="18" charset="0"/>
              </a:rPr>
              <a:t>Deliverables:</a:t>
            </a:r>
            <a:r>
              <a:rPr lang="en-IN" sz="1500" dirty="0">
                <a:latin typeface="Times New Roman" panose="02020603050405020304" pitchFamily="18" charset="0"/>
                <a:cs typeface="Times New Roman" panose="02020603050405020304" pitchFamily="18" charset="0"/>
              </a:rPr>
              <a:t> App screens, user journey, sanctuary onboarding design</a:t>
            </a:r>
          </a:p>
          <a:p>
            <a:pPr algn="ctr"/>
            <a:r>
              <a:rPr lang="en-IN" sz="1500" b="1" dirty="0">
                <a:latin typeface="Times New Roman" panose="02020603050405020304" pitchFamily="18" charset="0"/>
                <a:cs typeface="Times New Roman" panose="02020603050405020304" pitchFamily="18" charset="0"/>
              </a:rPr>
              <a:t>Member 2: AI &amp; Data Developer</a:t>
            </a:r>
          </a:p>
          <a:p>
            <a:pPr algn="ctr"/>
            <a:r>
              <a:rPr lang="en-IN" sz="1500" b="1" dirty="0">
                <a:latin typeface="Times New Roman" panose="02020603050405020304" pitchFamily="18" charset="0"/>
                <a:cs typeface="Times New Roman" panose="02020603050405020304" pitchFamily="18" charset="0"/>
              </a:rPr>
              <a:t>Focus:</a:t>
            </a:r>
            <a:r>
              <a:rPr lang="en-IN" sz="1500" dirty="0">
                <a:latin typeface="Times New Roman" panose="02020603050405020304" pitchFamily="18" charset="0"/>
                <a:cs typeface="Times New Roman" panose="02020603050405020304" pitchFamily="18" charset="0"/>
              </a:rPr>
              <a:t> AI Features &amp; Data Processing</a:t>
            </a:r>
            <a:br>
              <a:rPr lang="en-IN" sz="1500" dirty="0">
                <a:latin typeface="Times New Roman" panose="02020603050405020304" pitchFamily="18" charset="0"/>
                <a:cs typeface="Times New Roman" panose="02020603050405020304" pitchFamily="18" charset="0"/>
              </a:rPr>
            </a:br>
            <a:r>
              <a:rPr lang="en-IN" sz="1500" b="1" dirty="0">
                <a:latin typeface="Times New Roman" panose="02020603050405020304" pitchFamily="18" charset="0"/>
                <a:cs typeface="Times New Roman" panose="02020603050405020304" pitchFamily="18" charset="0"/>
              </a:rPr>
              <a:t>Skills:</a:t>
            </a:r>
            <a:r>
              <a:rPr lang="en-IN" sz="1500" dirty="0">
                <a:latin typeface="Times New Roman" panose="02020603050405020304" pitchFamily="18" charset="0"/>
                <a:cs typeface="Times New Roman" panose="02020603050405020304" pitchFamily="18" charset="0"/>
              </a:rPr>
              <a:t> Python, Machine Learning Basics, TensorFlow, Data Analysis, AI Model Integration</a:t>
            </a:r>
            <a:br>
              <a:rPr lang="en-IN" sz="1500" dirty="0">
                <a:latin typeface="Times New Roman" panose="02020603050405020304" pitchFamily="18" charset="0"/>
                <a:cs typeface="Times New Roman" panose="02020603050405020304" pitchFamily="18" charset="0"/>
              </a:rPr>
            </a:br>
            <a:r>
              <a:rPr lang="en-IN" sz="1500" b="1" dirty="0">
                <a:latin typeface="Times New Roman" panose="02020603050405020304" pitchFamily="18" charset="0"/>
                <a:cs typeface="Times New Roman" panose="02020603050405020304" pitchFamily="18" charset="0"/>
              </a:rPr>
              <a:t>Deliverables:</a:t>
            </a:r>
            <a:r>
              <a:rPr lang="en-IN" sz="1500" dirty="0">
                <a:latin typeface="Times New Roman" panose="02020603050405020304" pitchFamily="18" charset="0"/>
                <a:cs typeface="Times New Roman" panose="02020603050405020304" pitchFamily="18" charset="0"/>
              </a:rPr>
              <a:t> Route risk analysis, safety prediction module, AI-powered features</a:t>
            </a:r>
          </a:p>
          <a:p>
            <a:pPr algn="ctr"/>
            <a:r>
              <a:rPr lang="en-IN" sz="1500" b="1" dirty="0">
                <a:latin typeface="Times New Roman" panose="02020603050405020304" pitchFamily="18" charset="0"/>
                <a:cs typeface="Times New Roman" panose="02020603050405020304" pitchFamily="18" charset="0"/>
              </a:rPr>
              <a:t>Member 3: GIS &amp; Mapping Developer</a:t>
            </a:r>
          </a:p>
          <a:p>
            <a:pPr algn="ctr"/>
            <a:r>
              <a:rPr lang="en-IN" sz="1500" b="1" dirty="0">
                <a:latin typeface="Times New Roman" panose="02020603050405020304" pitchFamily="18" charset="0"/>
                <a:cs typeface="Times New Roman" panose="02020603050405020304" pitchFamily="18" charset="0"/>
              </a:rPr>
              <a:t>Focus:</a:t>
            </a:r>
            <a:r>
              <a:rPr lang="en-IN" sz="1500" dirty="0">
                <a:latin typeface="Times New Roman" panose="02020603050405020304" pitchFamily="18" charset="0"/>
                <a:cs typeface="Times New Roman" panose="02020603050405020304" pitchFamily="18" charset="0"/>
              </a:rPr>
              <a:t> Maps &amp; Navigation Features</a:t>
            </a:r>
            <a:br>
              <a:rPr lang="en-IN" sz="1500" dirty="0">
                <a:latin typeface="Times New Roman" panose="02020603050405020304" pitchFamily="18" charset="0"/>
                <a:cs typeface="Times New Roman" panose="02020603050405020304" pitchFamily="18" charset="0"/>
              </a:rPr>
            </a:br>
            <a:r>
              <a:rPr lang="en-IN" sz="1500" b="1" dirty="0">
                <a:latin typeface="Times New Roman" panose="02020603050405020304" pitchFamily="18" charset="0"/>
                <a:cs typeface="Times New Roman" panose="02020603050405020304" pitchFamily="18" charset="0"/>
              </a:rPr>
              <a:t>Skills:</a:t>
            </a:r>
            <a:r>
              <a:rPr lang="en-IN" sz="1500" dirty="0">
                <a:latin typeface="Times New Roman" panose="02020603050405020304" pitchFamily="18" charset="0"/>
                <a:cs typeface="Times New Roman" panose="02020603050405020304" pitchFamily="18" charset="0"/>
              </a:rPr>
              <a:t> Google Maps API, OpenStreetMap, Route Planning, Location Services, Data Visualization</a:t>
            </a:r>
            <a:br>
              <a:rPr lang="en-IN" sz="1500" dirty="0">
                <a:latin typeface="Times New Roman" panose="02020603050405020304" pitchFamily="18" charset="0"/>
                <a:cs typeface="Times New Roman" panose="02020603050405020304" pitchFamily="18" charset="0"/>
              </a:rPr>
            </a:br>
            <a:r>
              <a:rPr lang="en-IN" sz="1500" b="1" dirty="0">
                <a:latin typeface="Times New Roman" panose="02020603050405020304" pitchFamily="18" charset="0"/>
                <a:cs typeface="Times New Roman" panose="02020603050405020304" pitchFamily="18" charset="0"/>
              </a:rPr>
              <a:t>Deliverables:</a:t>
            </a:r>
            <a:r>
              <a:rPr lang="en-IN" sz="1500" dirty="0">
                <a:latin typeface="Times New Roman" panose="02020603050405020304" pitchFamily="18" charset="0"/>
                <a:cs typeface="Times New Roman" panose="02020603050405020304" pitchFamily="18" charset="0"/>
              </a:rPr>
              <a:t> Safe route generation, map integration, location-based safety indicators</a:t>
            </a:r>
          </a:p>
          <a:p>
            <a:pPr algn="ctr"/>
            <a:r>
              <a:rPr lang="en-IN" sz="1500" b="1" dirty="0">
                <a:latin typeface="Times New Roman" panose="02020603050405020304" pitchFamily="18" charset="0"/>
                <a:cs typeface="Times New Roman" panose="02020603050405020304" pitchFamily="18" charset="0"/>
              </a:rPr>
              <a:t>Member 4: Full-Stack &amp; Backend Developer</a:t>
            </a:r>
          </a:p>
          <a:p>
            <a:pPr algn="ctr"/>
            <a:r>
              <a:rPr lang="en-IN" sz="1500" b="1" dirty="0">
                <a:latin typeface="Times New Roman" panose="02020603050405020304" pitchFamily="18" charset="0"/>
                <a:cs typeface="Times New Roman" panose="02020603050405020304" pitchFamily="18" charset="0"/>
              </a:rPr>
              <a:t>Focus:</a:t>
            </a:r>
            <a:r>
              <a:rPr lang="en-IN" sz="1500" dirty="0">
                <a:latin typeface="Times New Roman" panose="02020603050405020304" pitchFamily="18" charset="0"/>
                <a:cs typeface="Times New Roman" panose="02020603050405020304" pitchFamily="18" charset="0"/>
              </a:rPr>
              <a:t> Application Development &amp; Cloud Integration</a:t>
            </a:r>
            <a:br>
              <a:rPr lang="en-IN" sz="1500" dirty="0">
                <a:latin typeface="Times New Roman" panose="02020603050405020304" pitchFamily="18" charset="0"/>
                <a:cs typeface="Times New Roman" panose="02020603050405020304" pitchFamily="18" charset="0"/>
              </a:rPr>
            </a:br>
            <a:r>
              <a:rPr lang="en-IN" sz="1500" b="1" dirty="0">
                <a:latin typeface="Times New Roman" panose="02020603050405020304" pitchFamily="18" charset="0"/>
                <a:cs typeface="Times New Roman" panose="02020603050405020304" pitchFamily="18" charset="0"/>
              </a:rPr>
              <a:t>Skills:</a:t>
            </a:r>
            <a:r>
              <a:rPr lang="en-IN" sz="1500" dirty="0">
                <a:latin typeface="Times New Roman" panose="02020603050405020304" pitchFamily="18" charset="0"/>
                <a:cs typeface="Times New Roman" panose="02020603050405020304" pitchFamily="18" charset="0"/>
              </a:rPr>
              <a:t> Java, Spring Boot, React Native, Firebase, REST APIs, Database Management</a:t>
            </a:r>
            <a:br>
              <a:rPr lang="en-IN" sz="1500" dirty="0">
                <a:latin typeface="Times New Roman" panose="02020603050405020304" pitchFamily="18" charset="0"/>
                <a:cs typeface="Times New Roman" panose="02020603050405020304" pitchFamily="18" charset="0"/>
              </a:rPr>
            </a:br>
            <a:r>
              <a:rPr lang="en-IN" sz="1500" b="1" dirty="0">
                <a:latin typeface="Times New Roman" panose="02020603050405020304" pitchFamily="18" charset="0"/>
                <a:cs typeface="Times New Roman" panose="02020603050405020304" pitchFamily="18" charset="0"/>
              </a:rPr>
              <a:t>Deliverables:</a:t>
            </a:r>
            <a:r>
              <a:rPr lang="en-IN" sz="1500" dirty="0">
                <a:latin typeface="Times New Roman" panose="02020603050405020304" pitchFamily="18" charset="0"/>
                <a:cs typeface="Times New Roman" panose="02020603050405020304" pitchFamily="18" charset="0"/>
              </a:rPr>
              <a:t> Backend services, real-time alerts, database and authentication system</a:t>
            </a:r>
          </a:p>
          <a:p>
            <a:pPr algn="ctr">
              <a:spcAft>
                <a:spcPts val="2000"/>
              </a:spcAft>
              <a:defRPr sz="1400" b="1">
                <a:solidFill>
                  <a:srgbClr val="00C2A8"/>
                </a:solidFill>
                <a:latin typeface="Arial"/>
              </a:defRPr>
            </a:pPr>
            <a:endParaRPr sz="15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TotalTime>
  <Words>1636</Words>
  <Application>Microsoft Office PowerPoint</Application>
  <PresentationFormat>Widescreen</PresentationFormat>
  <Paragraphs>148</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narasimhasai</dc:creator>
  <cp:keywords/>
  <dc:description>generated using python-pptx</dc:description>
  <cp:lastModifiedBy>LAKSHMI SRI DIVYA RAVIPROLU</cp:lastModifiedBy>
  <cp:revision>21</cp:revision>
  <dcterms:created xsi:type="dcterms:W3CDTF">2013-01-27T09:14:16Z</dcterms:created>
  <dcterms:modified xsi:type="dcterms:W3CDTF">2026-06-10T15:07:42Z</dcterms:modified>
  <cp:category/>
</cp:coreProperties>
</file>